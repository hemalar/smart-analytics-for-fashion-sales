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5" r:id="rId3"/>
    <p:sldId id="257" r:id="rId4"/>
    <p:sldId id="279" r:id="rId5"/>
    <p:sldId id="280" r:id="rId6"/>
    <p:sldId id="259" r:id="rId7"/>
    <p:sldId id="258" r:id="rId8"/>
    <p:sldId id="260" r:id="rId9"/>
    <p:sldId id="273" r:id="rId10"/>
    <p:sldId id="285" r:id="rId11"/>
    <p:sldId id="276" r:id="rId12"/>
    <p:sldId id="277" r:id="rId13"/>
    <p:sldId id="278" r:id="rId14"/>
    <p:sldId id="286" r:id="rId15"/>
    <p:sldId id="287" r:id="rId16"/>
    <p:sldId id="261" r:id="rId17"/>
    <p:sldId id="284" r:id="rId18"/>
    <p:sldId id="288" r:id="rId19"/>
    <p:sldId id="289" r:id="rId20"/>
    <p:sldId id="290" r:id="rId21"/>
    <p:sldId id="283" r:id="rId22"/>
    <p:sldId id="282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301" r:id="rId31"/>
    <p:sldId id="298" r:id="rId32"/>
    <p:sldId id="299" r:id="rId33"/>
    <p:sldId id="300" r:id="rId34"/>
    <p:sldId id="27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8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26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2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5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14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01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6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88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7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092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52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0516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194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06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1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5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nleroy917/hm_ecommerce_products?utm_source=chatgpt.com" TargetMode="External"/><Relationship Id="rId2" Type="http://schemas.openxmlformats.org/officeDocument/2006/relationships/hyperlink" Target="https://www.kaggle.com/datasets/ulrikthygepedersen/online-retail-datas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selight.app/u/kaggle/dataset/durgeshrao9993_dataset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C35B-F174-27A8-6A1B-366D4C3B0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272" y="2085654"/>
            <a:ext cx="9585789" cy="168496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 RETAIL ANALYTICS FOR FASHION SALES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93D00-FD33-DADD-E976-B8293960179F}"/>
              </a:ext>
            </a:extLst>
          </p:cNvPr>
          <p:cNvSpPr txBox="1"/>
          <p:nvPr/>
        </p:nvSpPr>
        <p:spPr>
          <a:xfrm>
            <a:off x="5872047" y="4826775"/>
            <a:ext cx="5198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HEMALA 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: PANKAJ DOUNDEY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48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4E1F-FDC9-0338-A8EE-D3959935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162" y="511628"/>
            <a:ext cx="8596668" cy="13208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C9FCD-9930-CA09-BE2A-F31C7250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250" y="1335886"/>
            <a:ext cx="10284580" cy="475684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and Value Delivered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118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C64F-386F-3543-EFB9-58DBABEE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157" y="197493"/>
            <a:ext cx="9432437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Study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EE11-5EB7-8A21-E237-C39C9D9B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57" y="999162"/>
            <a:ext cx="11455685" cy="5278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retailers – especially those operating in an ethnic and lifestyle segment similar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FabIndia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both physical stores and online sales channels. However, their current operational ecosystem is still heavily dependent on 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 billing systems in stores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semi-automated inventory tracking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Excel-based sales and stock reports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online channels provide better analytics, offline stores continue to lack real-time visibility into critical business metrics such as: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product, sizes or colors are selling fast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items are underperforming or stagnating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availability across locations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retailers often struggle to build a unified view of overall business performance across online and offline channels. Decisions around procurement, replenishment, pricing, and promotions continue to rely more on intuition and experience rather than integrated, data-driven insights.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1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4515-E6AE-0335-CCC9-599BC68E2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0B35-457B-BE02-B088-0310AD76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0148"/>
            <a:ext cx="9432437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   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2B81-CB89-0738-6CD3-3A9637701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043"/>
            <a:ext cx="10819448" cy="44283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unified analytics solution that integrates offline POS sales and online e-commerce data for fashion retailers.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focus is to provide real-time insights into product performance, inventory movement, and store/employee productivity. By automating data analysis, the project enables accurate, data-driven decisions in merchandising and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56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AEF7-4574-0F1C-81A4-CB99CD4B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3B4F-7AC3-0C73-4FC8-0AD9DAFE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0148"/>
            <a:ext cx="9432437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   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3408-2A2F-27E8-55D5-88ABC795A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044"/>
            <a:ext cx="10819448" cy="42124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Ingestion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Monitoring &amp;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&amp; Discount Effectiveness Tracking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&amp; Store Performance Evaluation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Business Intelligence Dashboards</a:t>
            </a:r>
          </a:p>
        </p:txBody>
      </p:sp>
    </p:spTree>
    <p:extLst>
      <p:ext uri="{BB962C8B-B14F-4D97-AF65-F5344CB8AC3E}">
        <p14:creationId xmlns:p14="http://schemas.microsoft.com/office/powerpoint/2010/main" val="376917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7104-D710-CC56-57B6-C8AE08C4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828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Functional Diagram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1CBCE-B8E6-B100-670D-95C96EE9D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53" y="1147881"/>
            <a:ext cx="2193505" cy="175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5C3F2-23AC-5C9C-C53A-21F7EC7A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758" y="2423998"/>
            <a:ext cx="1552792" cy="175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7D6AEF-F68B-0344-2DE9-D34F91DDC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723" y="2444271"/>
            <a:ext cx="1994631" cy="1707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D9E5DB-73E1-41B9-4A23-73542AAFE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069" y="2396102"/>
            <a:ext cx="2061633" cy="17528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349F27-43D6-4756-9F69-E55CC4D206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418" y="2396102"/>
            <a:ext cx="2343369" cy="18634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32777F-855A-EF98-CE55-D0F61DC86907}"/>
              </a:ext>
            </a:extLst>
          </p:cNvPr>
          <p:cNvCxnSpPr>
            <a:cxnSpLocks/>
          </p:cNvCxnSpPr>
          <p:nvPr/>
        </p:nvCxnSpPr>
        <p:spPr>
          <a:xfrm>
            <a:off x="4170874" y="3309548"/>
            <a:ext cx="730967" cy="82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AFDAF1-6BED-B87E-38B2-1224A2A497B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717354" y="3297788"/>
            <a:ext cx="697169" cy="229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4DDB6E-0B3D-44D7-CFFD-5DAB03458855}"/>
              </a:ext>
            </a:extLst>
          </p:cNvPr>
          <p:cNvCxnSpPr>
            <a:cxnSpLocks/>
          </p:cNvCxnSpPr>
          <p:nvPr/>
        </p:nvCxnSpPr>
        <p:spPr>
          <a:xfrm>
            <a:off x="9348039" y="3272523"/>
            <a:ext cx="6330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58A607-458F-6CBA-B33A-B2B1849FAE8E}"/>
              </a:ext>
            </a:extLst>
          </p:cNvPr>
          <p:cNvSpPr txBox="1"/>
          <p:nvPr/>
        </p:nvSpPr>
        <p:spPr>
          <a:xfrm>
            <a:off x="1660264" y="4312161"/>
            <a:ext cx="3062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Collect Online &amp; Offline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Daily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E66747-8CF0-9E3D-8927-05380B17F4CF}"/>
              </a:ext>
            </a:extLst>
          </p:cNvPr>
          <p:cNvSpPr txBox="1"/>
          <p:nvPr/>
        </p:nvSpPr>
        <p:spPr>
          <a:xfrm>
            <a:off x="4688047" y="4334311"/>
            <a:ext cx="2133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Analyze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F41A3-8A11-010E-8D77-5586ABB1C541}"/>
              </a:ext>
            </a:extLst>
          </p:cNvPr>
          <p:cNvSpPr txBox="1"/>
          <p:nvPr/>
        </p:nvSpPr>
        <p:spPr>
          <a:xfrm>
            <a:off x="7414523" y="4288144"/>
            <a:ext cx="225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&amp;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19E0E-4A4E-9BD5-F3C0-920F5675BABC}"/>
              </a:ext>
            </a:extLst>
          </p:cNvPr>
          <p:cNvSpPr txBox="1"/>
          <p:nvPr/>
        </p:nvSpPr>
        <p:spPr>
          <a:xfrm>
            <a:off x="10078948" y="4334312"/>
            <a:ext cx="172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 Decisions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AA8B16-03D3-031E-0CBB-FB52DD5E5B9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364306" y="2900726"/>
            <a:ext cx="0" cy="4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0AFAC6-F2C4-3FC2-B1EC-64FD4833DEF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364306" y="3300421"/>
            <a:ext cx="12884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0102315-05C3-6234-168F-672217A3A0AF}"/>
              </a:ext>
            </a:extLst>
          </p:cNvPr>
          <p:cNvSpPr txBox="1"/>
          <p:nvPr/>
        </p:nvSpPr>
        <p:spPr>
          <a:xfrm>
            <a:off x="289644" y="388894"/>
            <a:ext cx="2149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FabIndia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Fashion Store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F4B86-3D23-27C4-0ED4-099E75146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912" y="4733714"/>
            <a:ext cx="2286319" cy="15146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AF509E-29F2-7899-0CBB-D4977AE9FE31}"/>
              </a:ext>
            </a:extLst>
          </p:cNvPr>
          <p:cNvCxnSpPr>
            <a:cxnSpLocks/>
          </p:cNvCxnSpPr>
          <p:nvPr/>
        </p:nvCxnSpPr>
        <p:spPr>
          <a:xfrm flipV="1">
            <a:off x="1496656" y="3954092"/>
            <a:ext cx="0" cy="819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F66C8A-0D1D-62B4-7119-9FF2D7E44351}"/>
              </a:ext>
            </a:extLst>
          </p:cNvPr>
          <p:cNvCxnSpPr>
            <a:cxnSpLocks/>
          </p:cNvCxnSpPr>
          <p:nvPr/>
        </p:nvCxnSpPr>
        <p:spPr>
          <a:xfrm flipV="1">
            <a:off x="1496656" y="3927496"/>
            <a:ext cx="1099575" cy="265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646A48-D01F-7D7C-C4D2-389DEDB9CB3F}"/>
              </a:ext>
            </a:extLst>
          </p:cNvPr>
          <p:cNvSpPr txBox="1"/>
          <p:nvPr/>
        </p:nvSpPr>
        <p:spPr>
          <a:xfrm>
            <a:off x="883578" y="6391784"/>
            <a:ext cx="254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Sales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4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9925-35CF-6FEE-3565-31A823EB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TOOLS AND TECHNOLOGIES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86FE29-B193-74A3-A6D2-C2E981B37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600066"/>
              </p:ext>
            </p:extLst>
          </p:nvPr>
        </p:nvGraphicFramePr>
        <p:xfrm>
          <a:off x="2024009" y="1582220"/>
          <a:ext cx="7746716" cy="43509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73358">
                  <a:extLst>
                    <a:ext uri="{9D8B030D-6E8A-4147-A177-3AD203B41FA5}">
                      <a16:colId xmlns:a16="http://schemas.microsoft.com/office/drawing/2014/main" val="4150679531"/>
                    </a:ext>
                  </a:extLst>
                </a:gridCol>
                <a:gridCol w="3873358">
                  <a:extLst>
                    <a:ext uri="{9D8B030D-6E8A-4147-A177-3AD203B41FA5}">
                      <a16:colId xmlns:a16="http://schemas.microsoft.com/office/drawing/2014/main" val="4202163923"/>
                    </a:ext>
                  </a:extLst>
                </a:gridCol>
              </a:tblGrid>
              <a:tr h="44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Tool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29413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Data Lake Gen2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11964609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Orchestration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Data Factory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451864796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Databricks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80284422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Warehouse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Synapse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092974959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95622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013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2792-7235-D89F-FBAC-FACDA368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12" y="235734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Technical Diagram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30E33E-31DC-BC05-74CF-C730BBDA89D1}"/>
              </a:ext>
            </a:extLst>
          </p:cNvPr>
          <p:cNvCxnSpPr>
            <a:cxnSpLocks/>
          </p:cNvCxnSpPr>
          <p:nvPr/>
        </p:nvCxnSpPr>
        <p:spPr>
          <a:xfrm>
            <a:off x="1259890" y="2524251"/>
            <a:ext cx="754733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B575E6-C38E-C66B-F7C3-4EE3EE391EDF}"/>
              </a:ext>
            </a:extLst>
          </p:cNvPr>
          <p:cNvCxnSpPr>
            <a:cxnSpLocks/>
          </p:cNvCxnSpPr>
          <p:nvPr/>
        </p:nvCxnSpPr>
        <p:spPr>
          <a:xfrm>
            <a:off x="3527536" y="2544800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FA94E3-7D33-0C32-B10D-33C7A2ACDFA1}"/>
              </a:ext>
            </a:extLst>
          </p:cNvPr>
          <p:cNvCxnSpPr>
            <a:cxnSpLocks/>
          </p:cNvCxnSpPr>
          <p:nvPr/>
        </p:nvCxnSpPr>
        <p:spPr>
          <a:xfrm>
            <a:off x="5581162" y="2579137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3304B6-2B8E-D07B-66CE-325B421406E3}"/>
              </a:ext>
            </a:extLst>
          </p:cNvPr>
          <p:cNvCxnSpPr>
            <a:cxnSpLocks/>
          </p:cNvCxnSpPr>
          <p:nvPr/>
        </p:nvCxnSpPr>
        <p:spPr>
          <a:xfrm>
            <a:off x="7738041" y="2582651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562FC0-4AD3-2B21-7937-C83694920785}"/>
              </a:ext>
            </a:extLst>
          </p:cNvPr>
          <p:cNvCxnSpPr>
            <a:cxnSpLocks/>
          </p:cNvCxnSpPr>
          <p:nvPr/>
        </p:nvCxnSpPr>
        <p:spPr>
          <a:xfrm>
            <a:off x="9976781" y="2551795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5E6CA1E-FFD7-1628-B18D-62A179282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546" y="896134"/>
            <a:ext cx="1765706" cy="37169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99C7DC-96AE-6702-A542-0C1C9B72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84" y="909923"/>
            <a:ext cx="1808911" cy="37169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CB7D3F-6805-21FF-6D3D-A685EDF65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815" y="909923"/>
            <a:ext cx="1765706" cy="37169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A99F95-1D3C-6992-6BCB-B28C45FB9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190" y="913352"/>
            <a:ext cx="1765706" cy="37135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FF1E70C-9DF5-8DAD-FFE4-0E58ABCEB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4758" y="892943"/>
            <a:ext cx="1950382" cy="37031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304392-B5AF-7CC3-8968-3C616999AC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498" y="896134"/>
            <a:ext cx="1705557" cy="3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7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BC4B-6F0F-57AE-9CC0-53A77CAC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A437-235A-F498-D31D-650015EC6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875A2-9D90-ED18-378B-0C1F1EA3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449" y="824596"/>
            <a:ext cx="11709115" cy="555291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table and multiple dimension tables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Fact_Sales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In-store sales transactions.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Fact_Sales_Online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Online sales transactions.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Fact_Returns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Returned sales records.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Fact_Expenses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Operational expense data.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Dim_Branch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Branch location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 profile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Dim_Date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Calendar and time attributes.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Dim_Order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Order-level information.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Dim_Customer_Segment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 classification groups.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Dim_Size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Product size reference.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D1D8E-B808-7954-D35F-6DBF9B684F0D}"/>
              </a:ext>
            </a:extLst>
          </p:cNvPr>
          <p:cNvSpPr txBox="1"/>
          <p:nvPr/>
        </p:nvSpPr>
        <p:spPr>
          <a:xfrm>
            <a:off x="4014530" y="132233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90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1D82-6511-79EA-CC6A-E79EBB94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6A8C-348A-8B08-B8BC-A30879F9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3641-0ECB-EA33-A655-5CC5DD4C7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045" y="1369478"/>
            <a:ext cx="10171416" cy="501077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Dim_Store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 master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Dim_Supplier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Supplier information.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Dim_Product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Product master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Dim_Employee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Employee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Dim_Promotion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Promotion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Dim_Fabric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Fabric type reference.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Dim_Channel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Sales channel types.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Dim_Inventory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Stock level records.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Dim_Payment_Method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Payment mode types.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Dim_Return_Reason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Return reason categories.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1B7FD-BC75-8DB0-302D-56EBE727291A}"/>
              </a:ext>
            </a:extLst>
          </p:cNvPr>
          <p:cNvSpPr txBox="1"/>
          <p:nvPr/>
        </p:nvSpPr>
        <p:spPr>
          <a:xfrm>
            <a:off x="4500080" y="560210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12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7E63-6ADB-0B1A-0DAE-E575CFD4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7532-6C85-89D6-032B-D173134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57E33-C9CC-0AFE-E699-1F29AD78054C}"/>
              </a:ext>
            </a:extLst>
          </p:cNvPr>
          <p:cNvSpPr txBox="1"/>
          <p:nvPr/>
        </p:nvSpPr>
        <p:spPr>
          <a:xfrm>
            <a:off x="3311634" y="573817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AND 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239652-495A-7954-9A6F-CB213A88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11" y="1277070"/>
            <a:ext cx="3886742" cy="43419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9D7151-6FBF-6C41-22FE-D6B7F0A91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934" y="1280811"/>
            <a:ext cx="3334215" cy="43344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C1E19EA-2FFF-C0AD-784C-899E41472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230" y="1242707"/>
            <a:ext cx="3686689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5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1616-051E-C0F3-A272-E2F1A02D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5134-7220-7722-90B0-C49447C0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5DAF0-E0C2-579E-17A8-2760CFF570CD}"/>
              </a:ext>
            </a:extLst>
          </p:cNvPr>
          <p:cNvSpPr txBox="1"/>
          <p:nvPr/>
        </p:nvSpPr>
        <p:spPr>
          <a:xfrm>
            <a:off x="3524422" y="566243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EA7DED-1915-46FD-8476-D5044086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009" y="1369477"/>
            <a:ext cx="2494764" cy="3985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960025-F1C1-4C1A-8AF8-1AAA4728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422" y="1361904"/>
            <a:ext cx="2494764" cy="39926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89D79C-06C9-762F-BF2B-FE752EEDB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583" y="1369478"/>
            <a:ext cx="2239029" cy="39851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AEC1759-3472-BE62-A2D1-0834F3EBD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54" y="1411085"/>
            <a:ext cx="2839453" cy="39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5802-B797-3D78-8A52-38FD2BAE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74A9-6D33-43C7-050B-BB3F8DF4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DD306-A115-6630-11AE-A57010CF24AB}"/>
              </a:ext>
            </a:extLst>
          </p:cNvPr>
          <p:cNvSpPr txBox="1"/>
          <p:nvPr/>
        </p:nvSpPr>
        <p:spPr>
          <a:xfrm>
            <a:off x="3311634" y="767399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9E16D3-8AA7-21FD-77C2-F4D0E079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03" y="1894617"/>
            <a:ext cx="2569272" cy="39343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900A01-85DF-ADBA-0047-F806D750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67" y="1894617"/>
            <a:ext cx="2437117" cy="39343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5D5AE92-DBE4-D93B-7467-4D382514B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176" y="1894617"/>
            <a:ext cx="3017191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4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55CA-9B42-EAA0-C9CD-F8D9C3CB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C86D-EFFD-C788-3879-71DC5CCD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B4DEB-5083-55BB-E8AF-74A322771FA6}"/>
              </a:ext>
            </a:extLst>
          </p:cNvPr>
          <p:cNvSpPr txBox="1"/>
          <p:nvPr/>
        </p:nvSpPr>
        <p:spPr>
          <a:xfrm>
            <a:off x="3311634" y="573817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AND 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178AD-9D3D-9C8F-F8C2-0201C236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95" y="1427689"/>
            <a:ext cx="2152950" cy="2934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43D8F5-BD35-F7F6-23F9-B4B9253E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771" y="1369478"/>
            <a:ext cx="1905266" cy="3082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2211E-B13F-2107-4309-0B35E2245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20" y="1256462"/>
            <a:ext cx="2280863" cy="19706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F66C39-2485-F6CC-3F94-9BFEA46BC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619" y="3702775"/>
            <a:ext cx="2280863" cy="99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7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4F8F-80F1-5A59-6759-86406094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051B-A0F2-61AD-86A2-43597FE6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E45F4-5A9F-641A-3B96-73BF379E444B}"/>
              </a:ext>
            </a:extLst>
          </p:cNvPr>
          <p:cNvSpPr txBox="1"/>
          <p:nvPr/>
        </p:nvSpPr>
        <p:spPr>
          <a:xfrm>
            <a:off x="3311634" y="573817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AND 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94E1E-1A05-4DF6-6E3D-63296DFD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56" y="1628742"/>
            <a:ext cx="2424701" cy="2529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EA294-76A9-2E7B-6DAD-E2C8A1926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56" y="1628743"/>
            <a:ext cx="2424701" cy="2488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81167-CDEB-81CB-7571-2981020DE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373" y="1797978"/>
            <a:ext cx="1975994" cy="23188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C523AB-E2D0-8D7E-1006-2FEE27AB3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15" y="1622176"/>
            <a:ext cx="2095842" cy="24946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EDC3B4F-98D0-DAA4-CD0E-C5674D190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373" y="4823146"/>
            <a:ext cx="2683883" cy="10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66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188B-2233-E74A-4751-1978C879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325" y="547955"/>
            <a:ext cx="9750936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Data Modelling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3F1264-A6C1-DB15-618C-361C30637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7" y="1376736"/>
            <a:ext cx="12000214" cy="5383659"/>
          </a:xfrm>
        </p:spPr>
      </p:pic>
    </p:spTree>
    <p:extLst>
      <p:ext uri="{BB962C8B-B14F-4D97-AF65-F5344CB8AC3E}">
        <p14:creationId xmlns:p14="http://schemas.microsoft.com/office/powerpoint/2010/main" val="815895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C9A9-EB47-C757-E3A4-9F8ED1CD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590" y="116440"/>
            <a:ext cx="8596668" cy="59247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Data Modeling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E3B98-479B-9D35-B5C3-5C4687CA9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" y="1039403"/>
            <a:ext cx="12082409" cy="5818597"/>
          </a:xfrm>
        </p:spPr>
      </p:pic>
    </p:spTree>
    <p:extLst>
      <p:ext uri="{BB962C8B-B14F-4D97-AF65-F5344CB8AC3E}">
        <p14:creationId xmlns:p14="http://schemas.microsoft.com/office/powerpoint/2010/main" val="141297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DC59-46B8-4D56-FFAA-6DD42CEE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Key Performance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E576-90B0-81ED-C1B9-134E25DB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01" y="1617134"/>
            <a:ext cx="8906932" cy="4419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Revenue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SUM(Sales Amount)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income generated from all sales.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2.Net Profit Margin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(Net Profit / Total Revenue) × 100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overall profitability percentage.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3.Gross Margin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(Revenue – Cost of Goods Sold) / Revenue × 100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profit before operational expenses.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197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B86C-4874-4698-E9D0-1EF858CB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F3E8-24C6-3B2C-8107-D8B0C7DF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Key Performance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65BC-06B4-3EE1-9D08-2246DBCA3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17133"/>
            <a:ext cx="11269133" cy="4424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Sales per Store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 / Number of Stores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store performance efficiency.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Sales per Employee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 / Number of Employees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employee productivity.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Month-over-Month (MoM) Growth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((Current Month Sales – Previous Month Sales) / Previous Month Sales)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monthly sales growth trend.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64525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FA35-614A-0177-6748-ACA3C8CC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62A6-77B8-2DA9-FDA3-AB046535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Key Performance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EBFD-EF7D-1393-4A1A-C31840E85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20801"/>
            <a:ext cx="10473267" cy="47205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Inventory Turnover Ratio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of Goods Sold / Average Inventory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how efficiently inventory is sold.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Stockout Rate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(Stockout Days / Total Selling Days)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frequency of product unavailability.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Customer Retention Rate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((Customers at End – New Customers) / Customers at Start)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how well the business retains customers.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Return Rate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(Returned Items / Total Items Sold)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product return percentage.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3143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BB11-D03A-9500-A958-BD9C2203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86" y="260279"/>
            <a:ext cx="8596668" cy="1320800"/>
          </a:xfrm>
        </p:spPr>
        <p:txBody>
          <a:bodyPr/>
          <a:lstStyle/>
          <a:p>
            <a:r>
              <a:rPr lang="en-US" b="1" dirty="0"/>
              <a:t>            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Datasets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1203C-70E4-DD95-9E1E-D8F1D4DA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109608"/>
            <a:ext cx="11292059" cy="557886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open-source datasets were referred to for understanding structure, attributes, and retail sales patterns: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Retail Dataset (Transactions)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Link: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https://www.kaggle.com/datasets/ulrikthygepedersen/online-retail-dataset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transactional sales data such as product code, description, quantity, price, date/time, customer ID, and country — great for sales and inventory references. 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H&amp;M Ecommerce Products Dataset (Enhanced Version on Hugging Face)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Link: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https://huggingface.co/datasets/nleroy917/hm_ecommerce_products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rich product metadata, customer info, sales transaction history and image URLs — useful for multi-attribute retail structure reference. 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Women Fashion Trend Dataset (Kaggle)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https://baselight.app/u/kaggle/dataset/durgeshrao9993_dataset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~43 columns covering price, ratings, inventory counts, </a:t>
            </a:r>
            <a:r>
              <a:rPr lang="en-IN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tags, merchant info, and trends — good for product and trend analysis reference. </a:t>
            </a:r>
          </a:p>
          <a:p>
            <a:pPr>
              <a:lnSpc>
                <a:spcPct val="17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85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112B-FFA8-D0A3-E32B-BD52A24A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1448-55E7-0519-2C42-4DB34756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12" y="709078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&amp; Value Delivered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EAE399-D5BF-615B-9B4C-C1E0D3DDA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319" y="2029878"/>
            <a:ext cx="9325999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and automated sales reporting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planning and reduced stockouts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customer buying behavior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employee performance visibility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 instead of manual analysis</a:t>
            </a:r>
          </a:p>
        </p:txBody>
      </p:sp>
    </p:spTree>
    <p:extLst>
      <p:ext uri="{BB962C8B-B14F-4D97-AF65-F5344CB8AC3E}">
        <p14:creationId xmlns:p14="http://schemas.microsoft.com/office/powerpoint/2010/main" val="1023275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BF6F-1897-F8B4-D0B2-44E2B8A46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757B-D38F-DF03-D6F4-DD28E6A36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Activity for all file formats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8C051D0-98F0-A070-7415-3432D32FF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69477"/>
            <a:ext cx="12192000" cy="519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5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68EC-A059-B581-D4F8-AB7720EA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E0D1-6AB4-E326-307B-29903C12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to process Json file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1580C8-EDA4-6506-8A90-5A6628DC1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19200"/>
            <a:ext cx="121920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2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7C16-710F-142C-BFDE-B00F410D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2BE23-A1B0-CFA0-E22F-154D45B9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to process CSV file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EBDDAE-F64E-8F7A-3CA1-C42D2E83C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76867"/>
            <a:ext cx="12191999" cy="562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3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CB9C-C06A-8AA2-3B8E-2C9B81A1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D879-07FF-B3E1-098B-E3648BEC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to process text file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834F8B-BC31-119C-CD5D-549EFB86D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63133"/>
            <a:ext cx="12192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99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F171-A010-546C-5934-8A423633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F39C-6508-E14C-A15E-141AEDF3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for Metadata processing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47E10E-12E7-413C-B6C3-6A5BD62E5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36133"/>
            <a:ext cx="12192000" cy="562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82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4018-96CD-380B-5BF2-8F759F44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F316-D739-E74F-164B-78AEF309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Transformation using Data flow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3FD0E7-E117-E29D-1D20-1523A3EDC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8467"/>
            <a:ext cx="12191999" cy="55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62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A7E0-BFC1-A438-C4F6-FDBFCAB5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B93C-3F63-EDD7-6EF9-C2AB1CFC5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Transformation using Data flow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BC473-0FBE-83CF-89C2-A37ACDACC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27667"/>
            <a:ext cx="12192000" cy="56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87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9D16-46A5-7587-7CAA-3F5978F8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5C67-78F1-CEF1-63F8-1325985F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267" y="378878"/>
            <a:ext cx="10337800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loaded after transformation to the sink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533132-188E-3DC0-1D67-3EEC9684D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12333"/>
            <a:ext cx="12192000" cy="55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69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9DC-EF93-62AB-BACD-9E70DB87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3EC5-7A92-85DC-0ADB-08E84F88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Creating new trigger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AD458C-8F7E-764E-6983-C52041F93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51467"/>
            <a:ext cx="12192000" cy="570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40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D28C-7F32-9903-D9B5-AE45341D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2661-9FE1-894B-155D-06A74E26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Pipeline Run using Trigger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0058CB-3E9B-C334-8F88-E656ABE72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15533"/>
            <a:ext cx="12132733" cy="54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84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265E-4120-DA27-26E7-CA39EFCC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6954-E8EF-C2B1-13BA-82D26369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Pipeline Run using Trigger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9B10B0-440E-AB5F-823E-1255AD6D4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05467"/>
            <a:ext cx="12192000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47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CC8D-59A4-E289-B568-FAC8683A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2092B4-461D-7419-E0C8-DEAC925F3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650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1478</TotalTime>
  <Words>1120</Words>
  <Application>Microsoft Office PowerPoint</Application>
  <PresentationFormat>Widescreen</PresentationFormat>
  <Paragraphs>147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Times New Roman</vt:lpstr>
      <vt:lpstr>Trebuchet MS</vt:lpstr>
      <vt:lpstr>Wingdings</vt:lpstr>
      <vt:lpstr>Wingdings 3</vt:lpstr>
      <vt:lpstr>Facet</vt:lpstr>
      <vt:lpstr>SMART  RETAIL ANALYTICS FOR FASHION SALES</vt:lpstr>
      <vt:lpstr>TABLE OF CONTENTS</vt:lpstr>
      <vt:lpstr>            Use Case Study</vt:lpstr>
      <vt:lpstr>               Project Focus</vt:lpstr>
      <vt:lpstr>               Project Objectives</vt:lpstr>
      <vt:lpstr>                            Functional Diagram</vt:lpstr>
      <vt:lpstr>              TOOLS AND TECHNOLOGIES</vt:lpstr>
      <vt:lpstr>                 Technical Diagram </vt:lpstr>
      <vt:lpstr>                </vt:lpstr>
      <vt:lpstr>                </vt:lpstr>
      <vt:lpstr>                </vt:lpstr>
      <vt:lpstr>                </vt:lpstr>
      <vt:lpstr>                </vt:lpstr>
      <vt:lpstr>                </vt:lpstr>
      <vt:lpstr>                </vt:lpstr>
      <vt:lpstr>                           Data Modelling</vt:lpstr>
      <vt:lpstr>                         Data Modeling</vt:lpstr>
      <vt:lpstr>                Key Performance Indicators</vt:lpstr>
      <vt:lpstr>                Key Performance Indicators</vt:lpstr>
      <vt:lpstr>                  Key Performance Indicators</vt:lpstr>
      <vt:lpstr>                 Reference Datasets </vt:lpstr>
      <vt:lpstr>                Business Impact &amp; Value Delivered </vt:lpstr>
      <vt:lpstr>                Copy Activity for all file formats </vt:lpstr>
      <vt:lpstr>                Pipeline to process Json file </vt:lpstr>
      <vt:lpstr>                Pipeline to process CSV file </vt:lpstr>
      <vt:lpstr>                Pipeline to process text file </vt:lpstr>
      <vt:lpstr>                Pipeline for Metadata processing </vt:lpstr>
      <vt:lpstr>                Data Transformation using Data flow </vt:lpstr>
      <vt:lpstr>                Data Transformation using Data flow </vt:lpstr>
      <vt:lpstr>                Data loaded after transformation to the sink </vt:lpstr>
      <vt:lpstr>                Creating new trigger </vt:lpstr>
      <vt:lpstr>                Pipeline Run using Trigger </vt:lpstr>
      <vt:lpstr>                Pipeline Run using Trigger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Hemala Ramesh Babu</dc:creator>
  <cp:lastModifiedBy>Hemala Ramesh Babu</cp:lastModifiedBy>
  <cp:revision>27</cp:revision>
  <cp:lastPrinted>2026-01-26T17:13:51Z</cp:lastPrinted>
  <dcterms:created xsi:type="dcterms:W3CDTF">2026-01-26T14:46:04Z</dcterms:created>
  <dcterms:modified xsi:type="dcterms:W3CDTF">2026-02-23T18:24:03Z</dcterms:modified>
</cp:coreProperties>
</file>