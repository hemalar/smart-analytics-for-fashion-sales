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5" r:id="rId3"/>
    <p:sldId id="257" r:id="rId4"/>
    <p:sldId id="279" r:id="rId5"/>
    <p:sldId id="280" r:id="rId6"/>
    <p:sldId id="281" r:id="rId7"/>
    <p:sldId id="259" r:id="rId8"/>
    <p:sldId id="258" r:id="rId9"/>
    <p:sldId id="260" r:id="rId10"/>
    <p:sldId id="273" r:id="rId11"/>
    <p:sldId id="276" r:id="rId12"/>
    <p:sldId id="277" r:id="rId13"/>
    <p:sldId id="278" r:id="rId14"/>
    <p:sldId id="261" r:id="rId15"/>
    <p:sldId id="262" r:id="rId16"/>
    <p:sldId id="282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77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7181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0262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9828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695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3140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0013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260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3889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373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092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65268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505165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1946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07067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114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7364F-89AB-4B95-98E5-867F7745783F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2655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C35B-F174-27A8-6A1B-366D4C3B0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272" y="2085654"/>
            <a:ext cx="9585789" cy="1684962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 RETAIL ANALYTICS FOR FASHION SALES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093D00-FD33-DADD-E976-B8293960179F}"/>
              </a:ext>
            </a:extLst>
          </p:cNvPr>
          <p:cNvSpPr txBox="1"/>
          <p:nvPr/>
        </p:nvSpPr>
        <p:spPr>
          <a:xfrm>
            <a:off x="5872047" y="4826775"/>
            <a:ext cx="51987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: HEMALA R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Mentor : PANKAJ DOUNDEY</a:t>
            </a: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484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E4E1F-FDC9-0338-A8EE-D3959935D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162" y="511628"/>
            <a:ext cx="8596668" cy="1320800"/>
          </a:xfrm>
        </p:spPr>
        <p:txBody>
          <a:bodyPr>
            <a:normAutofit/>
          </a:bodyPr>
          <a:lstStyle/>
          <a:p>
            <a:r>
              <a:rPr lang="en-US" sz="3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lang="en-IN" sz="3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C9FCD-9930-CA09-BE2A-F31C7250D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84515"/>
            <a:ext cx="10284580" cy="475684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Diagram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Diagram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Modeling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Indicators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118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CC64F-386F-3543-EFB9-58DBABEE4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EE11-5EB7-8A21-E237-C39C9D9B8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613043"/>
            <a:ext cx="10870819" cy="485967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fashion retailers like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Fabindia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-style stores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operate through physical outlets and rely heavily on: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 billing systems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inventory tracking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Periodic Excel-based reports</a:t>
            </a:r>
          </a:p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 e-commerce, offline stores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real-time visibility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into: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selling fast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sizes/colors are failing</a:t>
            </a:r>
          </a:p>
          <a:p>
            <a:pPr lvl="1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store or employee performs better</a:t>
            </a:r>
          </a:p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decisions are based on experience, not data.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91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64515-E6AE-0335-CCC9-599BC68E2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0B35-457B-BE02-B088-0310AD76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Focus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52B81-CB89-0738-6CD3-3A9637701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043"/>
            <a:ext cx="10819448" cy="442831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focus of this project is to design and implement a scalable data engineering and analytics solution for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fabindia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fashion retailer. The project emphasizes integrating raw POS and operational data from multiple physical stores into a centralized data warehouse.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focuses on enabling sales trend analysis, inventory optimization, employee performance monitoring, and customer segmentation through structured data modeling and interactive Power BI dashboards, supporting data-driven decision-making and business growth.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7565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AEF7-4574-0F1C-81A4-CB99CD4B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B4F-7AC3-0C73-4FC8-0AD9DAFEC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43408-2A2F-27E8-55D5-88ABC795A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043"/>
            <a:ext cx="10819448" cy="442831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Data Ingestion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Data Transformation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Performance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Monitoring &amp; Optimization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 &amp; </a:t>
            </a:r>
            <a:r>
              <a:rPr lang="en-I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Promotion &amp; Discount Effectiveness Tracking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&amp; Store Performance Evaluation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Business Intelligence Dashboards</a:t>
            </a:r>
          </a:p>
        </p:txBody>
      </p:sp>
    </p:spTree>
    <p:extLst>
      <p:ext uri="{BB962C8B-B14F-4D97-AF65-F5344CB8AC3E}">
        <p14:creationId xmlns:p14="http://schemas.microsoft.com/office/powerpoint/2010/main" val="3769176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7FA1-1AB1-A84F-1D6D-7770DDB8C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429B8-4950-8769-E788-E326828A9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data is generated 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28B5C-0769-D066-705E-0426B4EA7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1210" y="2570095"/>
            <a:ext cx="10819448" cy="163203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generated daily from POS billing systems, inventory updates, customer interactions, and promotional activities across multiple offline stores.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741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27104-D710-CC56-57B6-C8AE08C4A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3828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Functional Diagram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B1CBCE-B8E6-B100-670D-95C96EE9DD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553" y="1147881"/>
            <a:ext cx="2193505" cy="17528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C5C3F2-23AC-5C9C-C53A-21F7EC7AC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758" y="2423998"/>
            <a:ext cx="1552792" cy="17528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7D6AEF-F68B-0344-2DE9-D34F91DDC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723" y="2444271"/>
            <a:ext cx="1994631" cy="17070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D9E5DB-73E1-41B9-4A23-73542AAFE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3069" y="2396102"/>
            <a:ext cx="2061633" cy="17528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349F27-43D6-4756-9F69-E55CC4D206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0418" y="2396102"/>
            <a:ext cx="2343369" cy="1863459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E32777F-855A-EF98-CE55-D0F61DC86907}"/>
              </a:ext>
            </a:extLst>
          </p:cNvPr>
          <p:cNvCxnSpPr>
            <a:cxnSpLocks/>
          </p:cNvCxnSpPr>
          <p:nvPr/>
        </p:nvCxnSpPr>
        <p:spPr>
          <a:xfrm>
            <a:off x="4170874" y="3309548"/>
            <a:ext cx="730967" cy="820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6AFDAF1-6BED-B87E-38B2-1224A2A497B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717354" y="3297788"/>
            <a:ext cx="697169" cy="2290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4DDB6E-0B3D-44D7-CFFD-5DAB03458855}"/>
              </a:ext>
            </a:extLst>
          </p:cNvPr>
          <p:cNvCxnSpPr>
            <a:cxnSpLocks/>
          </p:cNvCxnSpPr>
          <p:nvPr/>
        </p:nvCxnSpPr>
        <p:spPr>
          <a:xfrm>
            <a:off x="9348039" y="3272523"/>
            <a:ext cx="63304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58A607-458F-6CBA-B33A-B2B1849FAE8E}"/>
              </a:ext>
            </a:extLst>
          </p:cNvPr>
          <p:cNvSpPr txBox="1"/>
          <p:nvPr/>
        </p:nvSpPr>
        <p:spPr>
          <a:xfrm>
            <a:off x="1660264" y="4312161"/>
            <a:ext cx="30624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Collect Offline </a:t>
            </a: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Data Daily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E66747-8CF0-9E3D-8927-05380B17F4CF}"/>
              </a:ext>
            </a:extLst>
          </p:cNvPr>
          <p:cNvSpPr txBox="1"/>
          <p:nvPr/>
        </p:nvSpPr>
        <p:spPr>
          <a:xfrm>
            <a:off x="4688047" y="4334311"/>
            <a:ext cx="2133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and Analyze Data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4F41A3-8A11-010E-8D77-5586ABB1C541}"/>
              </a:ext>
            </a:extLst>
          </p:cNvPr>
          <p:cNvSpPr txBox="1"/>
          <p:nvPr/>
        </p:nvSpPr>
        <p:spPr>
          <a:xfrm>
            <a:off x="7414523" y="4288144"/>
            <a:ext cx="225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KPIs &amp; Insights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B19E0E-4A4E-9BD5-F3C0-920F5675BABC}"/>
              </a:ext>
            </a:extLst>
          </p:cNvPr>
          <p:cNvSpPr txBox="1"/>
          <p:nvPr/>
        </p:nvSpPr>
        <p:spPr>
          <a:xfrm>
            <a:off x="10078948" y="4334312"/>
            <a:ext cx="17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Driven Decisions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AA8B16-03D3-031E-0CBB-FB52DD5E5B9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364306" y="2900726"/>
            <a:ext cx="0" cy="42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0AFAC6-F2C4-3FC2-B1EC-64FD4833DEF1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364306" y="3300421"/>
            <a:ext cx="12884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90102315-05C3-6234-168F-672217A3A0AF}"/>
              </a:ext>
            </a:extLst>
          </p:cNvPr>
          <p:cNvSpPr txBox="1"/>
          <p:nvPr/>
        </p:nvSpPr>
        <p:spPr>
          <a:xfrm>
            <a:off x="503434" y="3626778"/>
            <a:ext cx="1849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FabIndia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Fashion Store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243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79925-35CF-6FEE-3565-31A823EBA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TOOLS AND TECHNOLOGIES</a:t>
            </a:r>
            <a:endParaRPr lang="en-I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186FE29-B193-74A3-A6D2-C2E981B378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2600066"/>
              </p:ext>
            </p:extLst>
          </p:nvPr>
        </p:nvGraphicFramePr>
        <p:xfrm>
          <a:off x="2024009" y="1582220"/>
          <a:ext cx="7746716" cy="435096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873358">
                  <a:extLst>
                    <a:ext uri="{9D8B030D-6E8A-4147-A177-3AD203B41FA5}">
                      <a16:colId xmlns:a16="http://schemas.microsoft.com/office/drawing/2014/main" val="4150679531"/>
                    </a:ext>
                  </a:extLst>
                </a:gridCol>
                <a:gridCol w="3873358">
                  <a:extLst>
                    <a:ext uri="{9D8B030D-6E8A-4147-A177-3AD203B41FA5}">
                      <a16:colId xmlns:a16="http://schemas.microsoft.com/office/drawing/2014/main" val="4202163923"/>
                    </a:ext>
                  </a:extLst>
                </a:gridCol>
              </a:tblGrid>
              <a:tr h="4490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Tool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329413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Ingestion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 Lake Gen2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111964609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Orchestration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 Factory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451864796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Processing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Databricks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80284422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Warehouse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Synapse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092974959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BI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956224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01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2792-7235-D89F-FBAC-FACDA3684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812" y="235734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Technical Diagram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219A3D5-647A-7224-0654-0E2E0C885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790" y="1354650"/>
            <a:ext cx="1769022" cy="30928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608280-872F-198D-CBA3-5B99AC381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451" y="1355813"/>
            <a:ext cx="1769022" cy="309173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4ABA11A-57C0-269A-21AA-790F49B1C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526" y="1354651"/>
            <a:ext cx="1899912" cy="30928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ED778A-8F62-E43F-E3E4-0063DABC4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0455" y="1354651"/>
            <a:ext cx="1774401" cy="30928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E4FA9-2EC6-1D66-4279-810650E644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76" y="1355813"/>
            <a:ext cx="1569076" cy="30928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F1ECB-1371-CF22-98C5-F70A24189C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134" y="1354651"/>
            <a:ext cx="1739375" cy="3092897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830E33E-31DC-BC05-74CF-C730BBDA89D1}"/>
              </a:ext>
            </a:extLst>
          </p:cNvPr>
          <p:cNvCxnSpPr>
            <a:cxnSpLocks/>
          </p:cNvCxnSpPr>
          <p:nvPr/>
        </p:nvCxnSpPr>
        <p:spPr>
          <a:xfrm>
            <a:off x="1488821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5B575E6-C38E-C66B-F7C3-4EE3EE391EDF}"/>
              </a:ext>
            </a:extLst>
          </p:cNvPr>
          <p:cNvCxnSpPr>
            <a:cxnSpLocks/>
          </p:cNvCxnSpPr>
          <p:nvPr/>
        </p:nvCxnSpPr>
        <p:spPr>
          <a:xfrm>
            <a:off x="3573029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FA94E3-7D33-0C32-B10D-33C7A2ACDFA1}"/>
              </a:ext>
            </a:extLst>
          </p:cNvPr>
          <p:cNvCxnSpPr>
            <a:cxnSpLocks/>
          </p:cNvCxnSpPr>
          <p:nvPr/>
        </p:nvCxnSpPr>
        <p:spPr>
          <a:xfrm>
            <a:off x="5813731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3304B6-2B8E-D07B-66CE-325B421406E3}"/>
              </a:ext>
            </a:extLst>
          </p:cNvPr>
          <p:cNvCxnSpPr>
            <a:cxnSpLocks/>
          </p:cNvCxnSpPr>
          <p:nvPr/>
        </p:nvCxnSpPr>
        <p:spPr>
          <a:xfrm>
            <a:off x="7802262" y="2390459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62FC0-4AD3-2B21-7937-C83694920785}"/>
              </a:ext>
            </a:extLst>
          </p:cNvPr>
          <p:cNvCxnSpPr>
            <a:cxnSpLocks/>
          </p:cNvCxnSpPr>
          <p:nvPr/>
        </p:nvCxnSpPr>
        <p:spPr>
          <a:xfrm>
            <a:off x="10033385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574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0BC4B-6F0F-57AE-9CC0-53A77C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7A437-235A-F498-D31D-650015EC6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875A2-9D90-ED18-378B-0C1F1EA31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061" y="1369478"/>
            <a:ext cx="10531011" cy="4743646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divided into </a:t>
            </a:r>
            <a:r>
              <a:rPr lang="en-I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fact table and multiple dimension tables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Fact_Sales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Central transactional table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Dim_Date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Time-based analysis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Dim_Product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Category, size, </a:t>
            </a:r>
            <a:r>
              <a:rPr lang="en-IN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brand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Dim_Customer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Customer </a:t>
            </a:r>
            <a:r>
              <a:rPr lang="en-IN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tracking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Dim_Employee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Sales contribution per staff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Dim_Store</a:t>
            </a:r>
            <a:r>
              <a:rPr lang="en-I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Dim_Branch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Location-based analysis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Dim_Promotion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Discount effectiveness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Dim_Inventory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Stock level monitoring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Dim_Supplier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Supply chain insights</a:t>
            </a:r>
          </a:p>
          <a:p>
            <a:pPr marL="0" indent="0">
              <a:buNone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D1D8E-B808-7954-D35F-6DBF9B684F0D}"/>
              </a:ext>
            </a:extLst>
          </p:cNvPr>
          <p:cNvSpPr txBox="1"/>
          <p:nvPr/>
        </p:nvSpPr>
        <p:spPr>
          <a:xfrm>
            <a:off x="4500080" y="560210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903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A7E63-6ADB-0B1A-0DAE-E575CFD4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E7532-6C85-89D6-032B-D1731346B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57E33-C9CC-0AFE-E699-1F29AD78054C}"/>
              </a:ext>
            </a:extLst>
          </p:cNvPr>
          <p:cNvSpPr txBox="1"/>
          <p:nvPr/>
        </p:nvSpPr>
        <p:spPr>
          <a:xfrm>
            <a:off x="3311634" y="573817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FACT AND 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3239652-495A-7954-9A6F-CB213A889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11" y="1277070"/>
            <a:ext cx="3886742" cy="434196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29D7151-6FBF-6C41-22FE-D6B7F0A91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934" y="1280811"/>
            <a:ext cx="3334215" cy="43344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C1E19EA-2FFF-C0AD-784C-899E41472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230" y="1242707"/>
            <a:ext cx="3686689" cy="437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5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D1616-051E-C0F3-A272-E2F1A02D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A5134-7220-7722-90B0-C49447C0B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5DAF0-E0C2-579E-17A8-2760CFF570CD}"/>
              </a:ext>
            </a:extLst>
          </p:cNvPr>
          <p:cNvSpPr txBox="1"/>
          <p:nvPr/>
        </p:nvSpPr>
        <p:spPr>
          <a:xfrm>
            <a:off x="3524422" y="566243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EA7DED-1915-46FD-8476-D5044086D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5009" y="1369477"/>
            <a:ext cx="2494764" cy="39851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D960025-F1C1-4C1A-8AF8-1AAA4728C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422" y="1361904"/>
            <a:ext cx="2494764" cy="39926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C89D79C-06C9-762F-BF2B-FE752EEDB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583" y="1369478"/>
            <a:ext cx="2239029" cy="398510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AEC1759-3472-BE62-A2D1-0834F3EBD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254" y="1411085"/>
            <a:ext cx="2839453" cy="394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21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5802-B797-3D78-8A52-38FD2BAEA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174A9-6D33-43C7-050B-BB3F8DF48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0DD306-A115-6630-11AE-A57010CF24AB}"/>
              </a:ext>
            </a:extLst>
          </p:cNvPr>
          <p:cNvSpPr txBox="1"/>
          <p:nvPr/>
        </p:nvSpPr>
        <p:spPr>
          <a:xfrm>
            <a:off x="3311634" y="767399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79E16D3-8AA7-21FD-77C2-F4D0E0794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03" y="1894617"/>
            <a:ext cx="2569272" cy="393437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2900A01-85DF-ADBA-0047-F806D750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67" y="1894617"/>
            <a:ext cx="2437117" cy="39343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5D5AE92-DBE4-D93B-7467-4D382514B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7176" y="1894617"/>
            <a:ext cx="3017191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13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0188B-2233-E74A-4751-1978C8796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750936" cy="132080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Schema Modelling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43F1264-A6C1-DB15-618C-361C30637F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703703"/>
            <a:ext cx="10274918" cy="4892306"/>
          </a:xfrm>
        </p:spPr>
      </p:pic>
    </p:spTree>
    <p:extLst>
      <p:ext uri="{BB962C8B-B14F-4D97-AF65-F5344CB8AC3E}">
        <p14:creationId xmlns:p14="http://schemas.microsoft.com/office/powerpoint/2010/main" val="815895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3E90-41B9-0FD2-63B3-D34B0F9CC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512" y="709078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Key Performance Indicators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72B3C-1407-FB62-0BC0-C2F0B0D6B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061" y="1369478"/>
            <a:ext cx="10531011" cy="474364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Branch-wise revenue share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Sales per Head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Stockouts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 Leakage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Churn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077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3112B-FFA8-D0A3-E32B-BD52A24A0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11448-55E7-0519-2C42-4DB347562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512" y="709078"/>
            <a:ext cx="8596668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Impact &amp; Value Delivered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8EAE399-D5BF-615B-9B4C-C1E0D3DDAF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6319" y="2029878"/>
            <a:ext cx="9325999" cy="3246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Faster and automated sales reporting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Improved inventory planning and reduced stockouts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Better understanding of customer buying behavior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 and employee performance visibility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decision-making instead of manual analysis</a:t>
            </a:r>
          </a:p>
        </p:txBody>
      </p:sp>
    </p:spTree>
    <p:extLst>
      <p:ext uri="{BB962C8B-B14F-4D97-AF65-F5344CB8AC3E}">
        <p14:creationId xmlns:p14="http://schemas.microsoft.com/office/powerpoint/2010/main" val="10232753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0CC8D-59A4-E289-B568-FAC8683AD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2092B4-461D-7419-E0C8-DEAC925F36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56501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1245</TotalTime>
  <Words>443</Words>
  <Application>Microsoft Office PowerPoint</Application>
  <PresentationFormat>Widescreen</PresentationFormat>
  <Paragraphs>89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Times New Roman</vt:lpstr>
      <vt:lpstr>Trebuchet MS</vt:lpstr>
      <vt:lpstr>Wingdings</vt:lpstr>
      <vt:lpstr>Wingdings 3</vt:lpstr>
      <vt:lpstr>Facet</vt:lpstr>
      <vt:lpstr>SMART  RETAIL ANALYTICS FOR FASHION SALES</vt:lpstr>
      <vt:lpstr>TABLE OF CONTENTS</vt:lpstr>
      <vt:lpstr>               Problem Statement</vt:lpstr>
      <vt:lpstr>               Project Focus</vt:lpstr>
      <vt:lpstr>               Project Objectives</vt:lpstr>
      <vt:lpstr>               How data is generated </vt:lpstr>
      <vt:lpstr>                            Functional Diagram</vt:lpstr>
      <vt:lpstr>              TOOLS AND TECHNOLOGIES</vt:lpstr>
      <vt:lpstr>                 Technical Diagram</vt:lpstr>
      <vt:lpstr>                </vt:lpstr>
      <vt:lpstr>                </vt:lpstr>
      <vt:lpstr>                </vt:lpstr>
      <vt:lpstr>                </vt:lpstr>
      <vt:lpstr>                           Schema Modelling</vt:lpstr>
      <vt:lpstr>                Key Performance Indicators</vt:lpstr>
      <vt:lpstr>                Business Impact &amp; Value Delivered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Hemala Ramesh Babu</dc:creator>
  <cp:lastModifiedBy>Hemala Ramesh Babu</cp:lastModifiedBy>
  <cp:revision>19</cp:revision>
  <cp:lastPrinted>2026-01-26T17:13:51Z</cp:lastPrinted>
  <dcterms:created xsi:type="dcterms:W3CDTF">2026-01-26T14:46:04Z</dcterms:created>
  <dcterms:modified xsi:type="dcterms:W3CDTF">2026-02-05T19:39:25Z</dcterms:modified>
</cp:coreProperties>
</file>