
<file path=[Content_Types].xml><?xml version="1.0" encoding="utf-8"?>
<Types xmlns="http://schemas.openxmlformats.org/package/2006/content-types">
  <Default Extension="bin" ContentType="image/unknown"/>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sldIdLst>
    <p:sldId id="256" r:id="rId2"/>
    <p:sldId id="275" r:id="rId3"/>
    <p:sldId id="257" r:id="rId4"/>
    <p:sldId id="259" r:id="rId5"/>
    <p:sldId id="258" r:id="rId6"/>
    <p:sldId id="260" r:id="rId7"/>
    <p:sldId id="273" r:id="rId8"/>
    <p:sldId id="276" r:id="rId9"/>
    <p:sldId id="277" r:id="rId10"/>
    <p:sldId id="278" r:id="rId11"/>
    <p:sldId id="261" r:id="rId12"/>
    <p:sldId id="262" r:id="rId13"/>
    <p:sldId id="264" r:id="rId14"/>
    <p:sldId id="263" r:id="rId15"/>
    <p:sldId id="265" r:id="rId16"/>
    <p:sldId id="266" r:id="rId17"/>
    <p:sldId id="267" r:id="rId18"/>
    <p:sldId id="268" r:id="rId19"/>
    <p:sldId id="269" r:id="rId20"/>
    <p:sldId id="270" r:id="rId21"/>
    <p:sldId id="271" r:id="rId22"/>
    <p:sldId id="272" r:id="rId23"/>
    <p:sldId id="274"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55" d="100"/>
          <a:sy n="55" d="100"/>
        </p:scale>
        <p:origin x="1096"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GB"/>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2351775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25771818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15602627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DF37364F-89AB-4B95-98E5-867F7745783F}" type="datetimeFigureOut">
              <a:rPr lang="en-IN" smtClean="0"/>
              <a:t>03-02-2026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42898286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DF37364F-89AB-4B95-98E5-867F7745783F}" type="datetimeFigureOut">
              <a:rPr lang="en-IN" smtClean="0"/>
              <a:t>03-02-2026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10169507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DF37364F-89AB-4B95-98E5-867F7745783F}" type="datetimeFigureOut">
              <a:rPr lang="en-IN" smtClean="0"/>
              <a:t>03-02-2026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42131408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F37364F-89AB-4B95-98E5-867F7745783F}" type="datetimeFigureOut">
              <a:rPr lang="en-IN" smtClean="0"/>
              <a:t>03-02-2026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18800133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GB"/>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DF37364F-89AB-4B95-98E5-867F7745783F}" type="datetimeFigureOut">
              <a:rPr lang="en-IN" smtClean="0"/>
              <a:t>03-02-2026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1891260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4D607C43-322F-4057-90ED-C5CDC991D160}" type="slidenum">
              <a:rPr lang="en-IN" smtClean="0"/>
              <a:t>‹#›</a:t>
            </a:fld>
            <a:endParaRPr lang="en-IN"/>
          </a:p>
        </p:txBody>
      </p:sp>
      <p:sp>
        <p:nvSpPr>
          <p:cNvPr id="5" name="Date Placeholder 4"/>
          <p:cNvSpPr>
            <a:spLocks noGrp="1"/>
          </p:cNvSpPr>
          <p:nvPr>
            <p:ph type="dt" sz="half" idx="10"/>
          </p:nvPr>
        </p:nvSpPr>
        <p:spPr/>
        <p:txBody>
          <a:bodyPr/>
          <a:lstStyle/>
          <a:p>
            <a:fld id="{DF37364F-89AB-4B95-98E5-867F7745783F}" type="datetimeFigureOut">
              <a:rPr lang="en-IN" smtClean="0"/>
              <a:t>03-02-2026</a:t>
            </a:fld>
            <a:endParaRPr lang="en-IN"/>
          </a:p>
        </p:txBody>
      </p:sp>
    </p:spTree>
    <p:extLst>
      <p:ext uri="{BB962C8B-B14F-4D97-AF65-F5344CB8AC3E}">
        <p14:creationId xmlns:p14="http://schemas.microsoft.com/office/powerpoint/2010/main" val="27138897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GB"/>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2369373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GB"/>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40309237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GB"/>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13565268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GB"/>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2505165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GB"/>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196719465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1300706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GB"/>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F37364F-89AB-4B95-98E5-867F7745783F}" type="datetimeFigureOut">
              <a:rPr lang="en-IN" smtClean="0"/>
              <a:t>03-02-2026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4D607C43-322F-4057-90ED-C5CDC991D160}" type="slidenum">
              <a:rPr lang="en-IN" smtClean="0"/>
              <a:t>‹#›</a:t>
            </a:fld>
            <a:endParaRPr lang="en-IN"/>
          </a:p>
        </p:txBody>
      </p:sp>
    </p:spTree>
    <p:extLst>
      <p:ext uri="{BB962C8B-B14F-4D97-AF65-F5344CB8AC3E}">
        <p14:creationId xmlns:p14="http://schemas.microsoft.com/office/powerpoint/2010/main" val="169114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DF37364F-89AB-4B95-98E5-867F7745783F}" type="datetimeFigureOut">
              <a:rPr lang="en-IN" smtClean="0"/>
              <a:t>03-02-2026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4D607C43-322F-4057-90ED-C5CDC991D160}" type="slidenum">
              <a:rPr lang="en-IN" smtClean="0"/>
              <a:t>‹#›</a:t>
            </a:fld>
            <a:endParaRPr lang="en-IN"/>
          </a:p>
        </p:txBody>
      </p:sp>
    </p:spTree>
    <p:extLst>
      <p:ext uri="{BB962C8B-B14F-4D97-AF65-F5344CB8AC3E}">
        <p14:creationId xmlns:p14="http://schemas.microsoft.com/office/powerpoint/2010/main" val="2702655068"/>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4.bin"/><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AC35B-F174-27A8-6A1B-366D4C3B0584}"/>
              </a:ext>
            </a:extLst>
          </p:cNvPr>
          <p:cNvSpPr>
            <a:spLocks noGrp="1"/>
          </p:cNvSpPr>
          <p:nvPr>
            <p:ph type="ctrTitle"/>
          </p:nvPr>
        </p:nvSpPr>
        <p:spPr>
          <a:xfrm>
            <a:off x="647272" y="2085654"/>
            <a:ext cx="9585789" cy="1684962"/>
          </a:xfrm>
        </p:spPr>
        <p:txBody>
          <a:bodyPr/>
          <a:lstStyle/>
          <a:p>
            <a:pPr algn="ctr"/>
            <a:r>
              <a:rPr lang="en-US" b="1" dirty="0">
                <a:solidFill>
                  <a:schemeClr val="tx1"/>
                </a:solidFill>
                <a:latin typeface="Times New Roman" panose="02020603050405020304" pitchFamily="18" charset="0"/>
                <a:cs typeface="Times New Roman" panose="02020603050405020304" pitchFamily="18" charset="0"/>
              </a:rPr>
              <a:t>SMART  RETAIL ANALYTICS FOR FASHION SALES</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C093D00-FD33-DADD-E976-B8293960179F}"/>
              </a:ext>
            </a:extLst>
          </p:cNvPr>
          <p:cNvSpPr txBox="1"/>
          <p:nvPr/>
        </p:nvSpPr>
        <p:spPr>
          <a:xfrm>
            <a:off x="5872047" y="4826775"/>
            <a:ext cx="5198724" cy="707886"/>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Name : HEMALA R</a:t>
            </a:r>
          </a:p>
          <a:p>
            <a:r>
              <a:rPr lang="en-US" sz="2000" b="1" dirty="0">
                <a:latin typeface="Times New Roman" panose="02020603050405020304" pitchFamily="18" charset="0"/>
                <a:cs typeface="Times New Roman" panose="02020603050405020304" pitchFamily="18" charset="0"/>
              </a:rPr>
              <a:t>Mentor : PANKAJ DOUNDEY</a:t>
            </a:r>
            <a:endParaRPr lang="en-IN"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804841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E4E1F-FDC9-0338-A8EE-D3959935D3D6}"/>
              </a:ext>
            </a:extLst>
          </p:cNvPr>
          <p:cNvSpPr>
            <a:spLocks noGrp="1"/>
          </p:cNvSpPr>
          <p:nvPr>
            <p:ph type="title"/>
          </p:nvPr>
        </p:nvSpPr>
        <p:spPr>
          <a:xfrm>
            <a:off x="2789162" y="511628"/>
            <a:ext cx="8596668" cy="1320800"/>
          </a:xfrm>
        </p:spPr>
        <p:txBody>
          <a:bodyPr>
            <a:normAutofit/>
          </a:bodyPr>
          <a:lstStyle/>
          <a:p>
            <a:r>
              <a:rPr lang="en-US" sz="3800" b="1" dirty="0">
                <a:solidFill>
                  <a:schemeClr val="tx1"/>
                </a:solidFill>
                <a:latin typeface="Times New Roman" panose="02020603050405020304" pitchFamily="18" charset="0"/>
                <a:cs typeface="Times New Roman" panose="02020603050405020304" pitchFamily="18" charset="0"/>
              </a:rPr>
              <a:t>TABLE OF CONTENTS</a:t>
            </a:r>
            <a:endParaRPr lang="en-IN" sz="3800" b="1"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1FC9FCD-9930-CA09-BE2A-F31C7250DCB1}"/>
              </a:ext>
            </a:extLst>
          </p:cNvPr>
          <p:cNvSpPr>
            <a:spLocks noGrp="1"/>
          </p:cNvSpPr>
          <p:nvPr>
            <p:ph idx="1"/>
          </p:nvPr>
        </p:nvSpPr>
        <p:spPr>
          <a:xfrm>
            <a:off x="677334" y="1284515"/>
            <a:ext cx="10284580" cy="4756848"/>
          </a:xfrm>
        </p:spPr>
        <p:txBody>
          <a:bodyPr>
            <a:normAutofit/>
          </a:bodyPr>
          <a:lstStyle/>
          <a:p>
            <a:r>
              <a:rPr lang="en-US" sz="3600" dirty="0">
                <a:latin typeface="Times New Roman" panose="02020603050405020304" pitchFamily="18" charset="0"/>
                <a:cs typeface="Times New Roman" panose="02020603050405020304" pitchFamily="18" charset="0"/>
              </a:rPr>
              <a:t>Problem Statement</a:t>
            </a:r>
          </a:p>
          <a:p>
            <a:r>
              <a:rPr lang="en-US" sz="3600" dirty="0">
                <a:latin typeface="Times New Roman" panose="02020603050405020304" pitchFamily="18" charset="0"/>
                <a:cs typeface="Times New Roman" panose="02020603050405020304" pitchFamily="18" charset="0"/>
              </a:rPr>
              <a:t>Functional Diagram</a:t>
            </a:r>
          </a:p>
          <a:p>
            <a:r>
              <a:rPr lang="en-US" sz="3600" dirty="0">
                <a:latin typeface="Times New Roman" panose="02020603050405020304" pitchFamily="18" charset="0"/>
                <a:cs typeface="Times New Roman" panose="02020603050405020304" pitchFamily="18" charset="0"/>
              </a:rPr>
              <a:t>Tools and Technologies</a:t>
            </a:r>
          </a:p>
          <a:p>
            <a:r>
              <a:rPr lang="en-US" sz="3600" dirty="0">
                <a:latin typeface="Times New Roman" panose="02020603050405020304" pitchFamily="18" charset="0"/>
                <a:cs typeface="Times New Roman" panose="02020603050405020304" pitchFamily="18" charset="0"/>
              </a:rPr>
              <a:t>Technical Diagram</a:t>
            </a:r>
          </a:p>
          <a:p>
            <a:r>
              <a:rPr lang="en-US" sz="3600" dirty="0">
                <a:latin typeface="Times New Roman" panose="02020603050405020304" pitchFamily="18" charset="0"/>
                <a:cs typeface="Times New Roman" panose="02020603050405020304" pitchFamily="18" charset="0"/>
              </a:rPr>
              <a:t>Dataset</a:t>
            </a:r>
          </a:p>
          <a:p>
            <a:r>
              <a:rPr lang="en-US" sz="3600" dirty="0">
                <a:latin typeface="Times New Roman" panose="02020603050405020304" pitchFamily="18" charset="0"/>
                <a:cs typeface="Times New Roman" panose="02020603050405020304" pitchFamily="18" charset="0"/>
              </a:rPr>
              <a:t>Schema Modeling</a:t>
            </a:r>
          </a:p>
          <a:p>
            <a:r>
              <a:rPr lang="en-US" sz="3600" dirty="0">
                <a:latin typeface="Times New Roman" panose="02020603050405020304" pitchFamily="18" charset="0"/>
                <a:cs typeface="Times New Roman" panose="02020603050405020304" pitchFamily="18" charset="0"/>
              </a:rPr>
              <a:t>Key Performance Indicators</a:t>
            </a:r>
          </a:p>
          <a:p>
            <a:endParaRPr lang="en-US" dirty="0"/>
          </a:p>
          <a:p>
            <a:endParaRPr lang="en-IN" dirty="0"/>
          </a:p>
        </p:txBody>
      </p:sp>
    </p:spTree>
    <p:extLst>
      <p:ext uri="{BB962C8B-B14F-4D97-AF65-F5344CB8AC3E}">
        <p14:creationId xmlns:p14="http://schemas.microsoft.com/office/powerpoint/2010/main" val="13881186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CC64F-386F-3543-EFB9-58DBABEE4C39}"/>
              </a:ext>
            </a:extLst>
          </p:cNvPr>
          <p:cNvSpPr>
            <a:spLocks noGrp="1"/>
          </p:cNvSpPr>
          <p:nvPr>
            <p:ph type="title"/>
          </p:nvPr>
        </p:nvSpPr>
        <p:spPr>
          <a:xfrm>
            <a:off x="0" y="630148"/>
            <a:ext cx="9432437" cy="1320800"/>
          </a:xfrm>
        </p:spPr>
        <p:txBody>
          <a:bodyPr>
            <a:normAutofit/>
          </a:bodyPr>
          <a:lstStyle/>
          <a:p>
            <a:pPr algn="ctr"/>
            <a:r>
              <a:rPr lang="en-US" sz="4000" b="1" dirty="0">
                <a:solidFill>
                  <a:schemeClr val="tx1"/>
                </a:solidFill>
              </a:rPr>
              <a:t>               </a:t>
            </a:r>
            <a:r>
              <a:rPr lang="en-US" sz="4000" b="1" dirty="0">
                <a:solidFill>
                  <a:schemeClr val="tx1"/>
                </a:solidFill>
                <a:latin typeface="Times New Roman" panose="02020603050405020304" pitchFamily="18" charset="0"/>
                <a:cs typeface="Times New Roman" panose="02020603050405020304" pitchFamily="18" charset="0"/>
              </a:rPr>
              <a:t>Problem Statement</a:t>
            </a:r>
            <a:endParaRPr lang="en-IN" sz="4000" b="1"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9D0EE11-5EB7-8A21-E237-C39C9D9B820E}"/>
              </a:ext>
            </a:extLst>
          </p:cNvPr>
          <p:cNvSpPr>
            <a:spLocks noGrp="1"/>
          </p:cNvSpPr>
          <p:nvPr>
            <p:ph idx="1"/>
          </p:nvPr>
        </p:nvSpPr>
        <p:spPr>
          <a:xfrm>
            <a:off x="677334" y="1613043"/>
            <a:ext cx="10264644" cy="4428319"/>
          </a:xfrm>
        </p:spPr>
        <p:txBody>
          <a:bodyPr>
            <a:normAutofit lnSpcReduction="10000"/>
          </a:bodyPr>
          <a:lstStyle/>
          <a:p>
            <a:pPr>
              <a:lnSpc>
                <a:spcPct val="150000"/>
              </a:lnSpc>
            </a:pPr>
            <a:r>
              <a:rPr lang="en-US" sz="2400" dirty="0">
                <a:latin typeface="Times New Roman" panose="02020603050405020304" pitchFamily="18" charset="0"/>
                <a:cs typeface="Times New Roman" panose="02020603050405020304" pitchFamily="18" charset="0"/>
              </a:rPr>
              <a:t>A fashion retail shop lacks online presence and relies solely on a basic POS system for daily sales. Manual tracking leads to inventory stockouts, poor sales trend insights, and missed opportunities in customer preferences for seasonal apparel, resulting in revenue loss and inefficient operations.</a:t>
            </a:r>
          </a:p>
          <a:p>
            <a:pPr>
              <a:lnSpc>
                <a:spcPct val="150000"/>
              </a:lnSpc>
            </a:pPr>
            <a:r>
              <a:rPr lang="en-US" sz="2400" dirty="0">
                <a:latin typeface="Times New Roman" panose="02020603050405020304" pitchFamily="18" charset="0"/>
                <a:cs typeface="Times New Roman" panose="02020603050405020304" pitchFamily="18" charset="0"/>
              </a:rPr>
              <a:t>The project aims to digitize POS data into a scalable analytics system for predictive insights on fashion sales patterns, real-time inventory optimization, employee performance tracking, and customer segmentation through an intuitive Power BI dashboard.</a:t>
            </a:r>
          </a:p>
          <a:p>
            <a:endParaRPr lang="en-IN" dirty="0"/>
          </a:p>
        </p:txBody>
      </p:sp>
    </p:spTree>
    <p:extLst>
      <p:ext uri="{BB962C8B-B14F-4D97-AF65-F5344CB8AC3E}">
        <p14:creationId xmlns:p14="http://schemas.microsoft.com/office/powerpoint/2010/main" val="31129195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27104-D710-CC56-57B6-C8AE08C4A572}"/>
              </a:ext>
            </a:extLst>
          </p:cNvPr>
          <p:cNvSpPr>
            <a:spLocks noGrp="1"/>
          </p:cNvSpPr>
          <p:nvPr>
            <p:ph type="title"/>
          </p:nvPr>
        </p:nvSpPr>
        <p:spPr>
          <a:xfrm>
            <a:off x="677334" y="609600"/>
            <a:ext cx="8596668" cy="538281"/>
          </a:xfrm>
        </p:spPr>
        <p:txBody>
          <a:bodyPr>
            <a:normAutofit fontScale="90000"/>
          </a:bodyPr>
          <a:lstStyle/>
          <a:p>
            <a:r>
              <a:rPr lang="en-US" sz="4000" b="1" dirty="0">
                <a:solidFill>
                  <a:schemeClr val="tx1"/>
                </a:solidFill>
                <a:latin typeface="Times New Roman" panose="02020603050405020304" pitchFamily="18" charset="0"/>
                <a:cs typeface="Times New Roman" panose="02020603050405020304" pitchFamily="18" charset="0"/>
              </a:rPr>
              <a:t>                            Functional Diagram</a:t>
            </a:r>
            <a:endParaRPr lang="en-IN" sz="4000" b="1" dirty="0">
              <a:solidFill>
                <a:schemeClr val="tx1"/>
              </a:solidFill>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0BB1CBCE-B8E6-B100-670D-95C96EE9DD8B}"/>
              </a:ext>
            </a:extLst>
          </p:cNvPr>
          <p:cNvPicPr>
            <a:picLocks noGrp="1" noChangeAspect="1"/>
          </p:cNvPicPr>
          <p:nvPr>
            <p:ph idx="1"/>
          </p:nvPr>
        </p:nvPicPr>
        <p:blipFill>
          <a:blip r:embed="rId2"/>
          <a:stretch>
            <a:fillRect/>
          </a:stretch>
        </p:blipFill>
        <p:spPr>
          <a:xfrm>
            <a:off x="267553" y="1109365"/>
            <a:ext cx="2193505" cy="1752845"/>
          </a:xfrm>
          <a:prstGeom prst="rect">
            <a:avLst/>
          </a:prstGeom>
        </p:spPr>
      </p:pic>
      <p:pic>
        <p:nvPicPr>
          <p:cNvPr id="7" name="Picture 6">
            <a:extLst>
              <a:ext uri="{FF2B5EF4-FFF2-40B4-BE49-F238E27FC236}">
                <a16:creationId xmlns:a16="http://schemas.microsoft.com/office/drawing/2014/main" id="{32C5C3F2-23AC-5C9C-C53A-21F7EC7ACA19}"/>
              </a:ext>
            </a:extLst>
          </p:cNvPr>
          <p:cNvPicPr>
            <a:picLocks noChangeAspect="1"/>
          </p:cNvPicPr>
          <p:nvPr/>
        </p:nvPicPr>
        <p:blipFill>
          <a:blip r:embed="rId3"/>
          <a:stretch>
            <a:fillRect/>
          </a:stretch>
        </p:blipFill>
        <p:spPr>
          <a:xfrm>
            <a:off x="2652758" y="2423998"/>
            <a:ext cx="1552792" cy="1752845"/>
          </a:xfrm>
          <a:prstGeom prst="rect">
            <a:avLst/>
          </a:prstGeom>
        </p:spPr>
      </p:pic>
      <p:pic>
        <p:nvPicPr>
          <p:cNvPr id="9" name="Picture 8">
            <a:extLst>
              <a:ext uri="{FF2B5EF4-FFF2-40B4-BE49-F238E27FC236}">
                <a16:creationId xmlns:a16="http://schemas.microsoft.com/office/drawing/2014/main" id="{4E7D6AEF-F68B-0344-2DE9-D34F91DDC5C3}"/>
              </a:ext>
            </a:extLst>
          </p:cNvPr>
          <p:cNvPicPr>
            <a:picLocks noChangeAspect="1"/>
          </p:cNvPicPr>
          <p:nvPr/>
        </p:nvPicPr>
        <p:blipFill>
          <a:blip r:embed="rId4"/>
          <a:stretch>
            <a:fillRect/>
          </a:stretch>
        </p:blipFill>
        <p:spPr>
          <a:xfrm>
            <a:off x="4722723" y="2444271"/>
            <a:ext cx="1994631" cy="1707033"/>
          </a:xfrm>
          <a:prstGeom prst="rect">
            <a:avLst/>
          </a:prstGeom>
        </p:spPr>
      </p:pic>
      <p:pic>
        <p:nvPicPr>
          <p:cNvPr id="11" name="Picture 10">
            <a:extLst>
              <a:ext uri="{FF2B5EF4-FFF2-40B4-BE49-F238E27FC236}">
                <a16:creationId xmlns:a16="http://schemas.microsoft.com/office/drawing/2014/main" id="{8CD9E5DB-73E1-41B9-4A23-73542AAFEA25}"/>
              </a:ext>
            </a:extLst>
          </p:cNvPr>
          <p:cNvPicPr>
            <a:picLocks noChangeAspect="1"/>
          </p:cNvPicPr>
          <p:nvPr/>
        </p:nvPicPr>
        <p:blipFill>
          <a:blip r:embed="rId5"/>
          <a:stretch>
            <a:fillRect/>
          </a:stretch>
        </p:blipFill>
        <p:spPr>
          <a:xfrm>
            <a:off x="7233069" y="2396102"/>
            <a:ext cx="2061633" cy="1752842"/>
          </a:xfrm>
          <a:prstGeom prst="rect">
            <a:avLst/>
          </a:prstGeom>
        </p:spPr>
      </p:pic>
      <p:pic>
        <p:nvPicPr>
          <p:cNvPr id="13" name="Picture 12">
            <a:extLst>
              <a:ext uri="{FF2B5EF4-FFF2-40B4-BE49-F238E27FC236}">
                <a16:creationId xmlns:a16="http://schemas.microsoft.com/office/drawing/2014/main" id="{24349F27-43D6-4756-9F69-E55CC4D206F1}"/>
              </a:ext>
            </a:extLst>
          </p:cNvPr>
          <p:cNvPicPr>
            <a:picLocks noChangeAspect="1"/>
          </p:cNvPicPr>
          <p:nvPr/>
        </p:nvPicPr>
        <p:blipFill>
          <a:blip r:embed="rId6"/>
          <a:stretch>
            <a:fillRect/>
          </a:stretch>
        </p:blipFill>
        <p:spPr>
          <a:xfrm>
            <a:off x="9810418" y="2396102"/>
            <a:ext cx="2343369" cy="1863459"/>
          </a:xfrm>
          <a:prstGeom prst="rect">
            <a:avLst/>
          </a:prstGeom>
        </p:spPr>
      </p:pic>
      <p:cxnSp>
        <p:nvCxnSpPr>
          <p:cNvPr id="15" name="Straight Arrow Connector 14">
            <a:extLst>
              <a:ext uri="{FF2B5EF4-FFF2-40B4-BE49-F238E27FC236}">
                <a16:creationId xmlns:a16="http://schemas.microsoft.com/office/drawing/2014/main" id="{9E32777F-855A-EF98-CE55-D0F61DC86907}"/>
              </a:ext>
            </a:extLst>
          </p:cNvPr>
          <p:cNvCxnSpPr>
            <a:cxnSpLocks/>
          </p:cNvCxnSpPr>
          <p:nvPr/>
        </p:nvCxnSpPr>
        <p:spPr>
          <a:xfrm>
            <a:off x="4170874" y="3309548"/>
            <a:ext cx="730967" cy="8205"/>
          </a:xfrm>
          <a:prstGeom prst="straightConnector1">
            <a:avLst/>
          </a:prstGeom>
          <a:ln w="5715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16">
            <a:extLst>
              <a:ext uri="{FF2B5EF4-FFF2-40B4-BE49-F238E27FC236}">
                <a16:creationId xmlns:a16="http://schemas.microsoft.com/office/drawing/2014/main" id="{16AFDAF1-6BED-B87E-38B2-1224A2A497B7}"/>
              </a:ext>
            </a:extLst>
          </p:cNvPr>
          <p:cNvCxnSpPr>
            <a:cxnSpLocks/>
            <a:stCxn id="9" idx="3"/>
          </p:cNvCxnSpPr>
          <p:nvPr/>
        </p:nvCxnSpPr>
        <p:spPr>
          <a:xfrm>
            <a:off x="6717354" y="3297788"/>
            <a:ext cx="697169" cy="22906"/>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CD4DDB6E-0B3D-44D7-CFFD-5DAB03458855}"/>
              </a:ext>
            </a:extLst>
          </p:cNvPr>
          <p:cNvCxnSpPr>
            <a:cxnSpLocks/>
          </p:cNvCxnSpPr>
          <p:nvPr/>
        </p:nvCxnSpPr>
        <p:spPr>
          <a:xfrm>
            <a:off x="9348039" y="3272523"/>
            <a:ext cx="63304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658A607-458F-6CBA-B33A-B2B1849FAE8E}"/>
              </a:ext>
            </a:extLst>
          </p:cNvPr>
          <p:cNvSpPr txBox="1"/>
          <p:nvPr/>
        </p:nvSpPr>
        <p:spPr>
          <a:xfrm>
            <a:off x="1660264" y="4312161"/>
            <a:ext cx="3062459" cy="646331"/>
          </a:xfrm>
          <a:prstGeom prst="rect">
            <a:avLst/>
          </a:prstGeom>
          <a:noFill/>
        </p:spPr>
        <p:txBody>
          <a:bodyPr wrap="square" rtlCol="0">
            <a:spAutoFit/>
          </a:bodyPr>
          <a:lstStyle/>
          <a:p>
            <a:pPr algn="ctr"/>
            <a:r>
              <a:rPr lang="en-US" b="1" dirty="0">
                <a:latin typeface="Times New Roman" panose="02020603050405020304" pitchFamily="18" charset="0"/>
                <a:cs typeface="Times New Roman" panose="02020603050405020304" pitchFamily="18" charset="0"/>
              </a:rPr>
              <a:t>     Collect Offline </a:t>
            </a:r>
          </a:p>
          <a:p>
            <a:pPr algn="ctr"/>
            <a:r>
              <a:rPr lang="en-US" b="1" dirty="0">
                <a:latin typeface="Times New Roman" panose="02020603050405020304" pitchFamily="18" charset="0"/>
                <a:cs typeface="Times New Roman" panose="02020603050405020304" pitchFamily="18" charset="0"/>
              </a:rPr>
              <a:t>    Data Daily</a:t>
            </a:r>
            <a:endParaRPr lang="en-IN" b="1" dirty="0">
              <a:latin typeface="Times New Roman" panose="02020603050405020304" pitchFamily="18" charset="0"/>
              <a:cs typeface="Times New Roman" panose="02020603050405020304" pitchFamily="18" charset="0"/>
            </a:endParaRPr>
          </a:p>
        </p:txBody>
      </p:sp>
      <p:sp>
        <p:nvSpPr>
          <p:cNvPr id="27" name="TextBox 26">
            <a:extLst>
              <a:ext uri="{FF2B5EF4-FFF2-40B4-BE49-F238E27FC236}">
                <a16:creationId xmlns:a16="http://schemas.microsoft.com/office/drawing/2014/main" id="{78E66747-8CF0-9E3D-8927-05380B17F4CF}"/>
              </a:ext>
            </a:extLst>
          </p:cNvPr>
          <p:cNvSpPr txBox="1"/>
          <p:nvPr/>
        </p:nvSpPr>
        <p:spPr>
          <a:xfrm>
            <a:off x="4688047" y="4334311"/>
            <a:ext cx="2133993" cy="646331"/>
          </a:xfrm>
          <a:prstGeom prst="rect">
            <a:avLst/>
          </a:prstGeom>
          <a:noFill/>
        </p:spPr>
        <p:txBody>
          <a:bodyPr wrap="square" rtlCol="0">
            <a:spAutoFit/>
          </a:bodyPr>
          <a:lstStyle/>
          <a:p>
            <a:pPr algn="ctr"/>
            <a:r>
              <a:rPr lang="en-US" b="1" dirty="0">
                <a:latin typeface="Times New Roman" panose="02020603050405020304" pitchFamily="18" charset="0"/>
                <a:cs typeface="Times New Roman" panose="02020603050405020304" pitchFamily="18" charset="0"/>
              </a:rPr>
              <a:t>Process and Analyze Data</a:t>
            </a:r>
            <a:endParaRPr lang="en-IN" b="1" dirty="0">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FE4F41A3-8A11-010E-8D77-5586ABB1C541}"/>
              </a:ext>
            </a:extLst>
          </p:cNvPr>
          <p:cNvSpPr txBox="1"/>
          <p:nvPr/>
        </p:nvSpPr>
        <p:spPr>
          <a:xfrm>
            <a:off x="7414523" y="4288144"/>
            <a:ext cx="2250040"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KPIs &amp; Insights</a:t>
            </a:r>
            <a:endParaRPr lang="en-IN" b="1" dirty="0">
              <a:latin typeface="Times New Roman" panose="02020603050405020304" pitchFamily="18" charset="0"/>
              <a:cs typeface="Times New Roman" panose="02020603050405020304" pitchFamily="18" charset="0"/>
            </a:endParaRPr>
          </a:p>
        </p:txBody>
      </p:sp>
      <p:sp>
        <p:nvSpPr>
          <p:cNvPr id="29" name="TextBox 28">
            <a:extLst>
              <a:ext uri="{FF2B5EF4-FFF2-40B4-BE49-F238E27FC236}">
                <a16:creationId xmlns:a16="http://schemas.microsoft.com/office/drawing/2014/main" id="{AEB19E0E-4A4E-9BD5-F3C0-920F5675BABC}"/>
              </a:ext>
            </a:extLst>
          </p:cNvPr>
          <p:cNvSpPr txBox="1"/>
          <p:nvPr/>
        </p:nvSpPr>
        <p:spPr>
          <a:xfrm>
            <a:off x="10078948" y="4334312"/>
            <a:ext cx="1726059" cy="646331"/>
          </a:xfrm>
          <a:prstGeom prst="rect">
            <a:avLst/>
          </a:prstGeom>
          <a:noFill/>
        </p:spPr>
        <p:txBody>
          <a:bodyPr wrap="square" rtlCol="0">
            <a:spAutoFit/>
          </a:bodyPr>
          <a:lstStyle/>
          <a:p>
            <a:pPr algn="ctr"/>
            <a:r>
              <a:rPr lang="en-US" b="1" dirty="0">
                <a:latin typeface="Times New Roman" panose="02020603050405020304" pitchFamily="18" charset="0"/>
                <a:cs typeface="Times New Roman" panose="02020603050405020304" pitchFamily="18" charset="0"/>
              </a:rPr>
              <a:t>Data Driven Decisions</a:t>
            </a:r>
            <a:endParaRPr lang="en-IN" b="1" dirty="0">
              <a:latin typeface="Times New Roman" panose="02020603050405020304" pitchFamily="18" charset="0"/>
              <a:cs typeface="Times New Roman" panose="02020603050405020304" pitchFamily="18" charset="0"/>
            </a:endParaRPr>
          </a:p>
        </p:txBody>
      </p:sp>
      <p:cxnSp>
        <p:nvCxnSpPr>
          <p:cNvPr id="34" name="Straight Connector 33">
            <a:extLst>
              <a:ext uri="{FF2B5EF4-FFF2-40B4-BE49-F238E27FC236}">
                <a16:creationId xmlns:a16="http://schemas.microsoft.com/office/drawing/2014/main" id="{FBAA8B16-03D3-031E-0CBB-FB52DD5E5B99}"/>
              </a:ext>
            </a:extLst>
          </p:cNvPr>
          <p:cNvCxnSpPr>
            <a:cxnSpLocks/>
            <a:stCxn id="5" idx="2"/>
          </p:cNvCxnSpPr>
          <p:nvPr/>
        </p:nvCxnSpPr>
        <p:spPr>
          <a:xfrm>
            <a:off x="1364306" y="2862210"/>
            <a:ext cx="0" cy="421018"/>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70AFAC6-F2C4-3FC2-B1EC-64FD4833DEF1}"/>
              </a:ext>
            </a:extLst>
          </p:cNvPr>
          <p:cNvCxnSpPr>
            <a:cxnSpLocks/>
            <a:endCxn id="7" idx="1"/>
          </p:cNvCxnSpPr>
          <p:nvPr/>
        </p:nvCxnSpPr>
        <p:spPr>
          <a:xfrm>
            <a:off x="1364306" y="3300421"/>
            <a:ext cx="1288452"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90102315-05C3-6234-168F-672217A3A0AF}"/>
              </a:ext>
            </a:extLst>
          </p:cNvPr>
          <p:cNvSpPr txBox="1"/>
          <p:nvPr/>
        </p:nvSpPr>
        <p:spPr>
          <a:xfrm>
            <a:off x="503434" y="3626778"/>
            <a:ext cx="1632141" cy="369332"/>
          </a:xfrm>
          <a:prstGeom prst="rect">
            <a:avLst/>
          </a:prstGeom>
          <a:noFill/>
        </p:spPr>
        <p:txBody>
          <a:bodyPr wrap="square" rtlCol="0">
            <a:spAutoFit/>
          </a:bodyPr>
          <a:lstStyle/>
          <a:p>
            <a:r>
              <a:rPr lang="en-US" b="1" dirty="0">
                <a:latin typeface="Times New Roman" panose="02020603050405020304" pitchFamily="18" charset="0"/>
                <a:cs typeface="Times New Roman" panose="02020603050405020304" pitchFamily="18" charset="0"/>
              </a:rPr>
              <a:t>Offline Store</a:t>
            </a:r>
            <a:endParaRPr lang="en-IN"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142435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79925-35CF-6FEE-3565-31A823EBAA0A}"/>
              </a:ext>
            </a:extLst>
          </p:cNvPr>
          <p:cNvSpPr>
            <a:spLocks noGrp="1"/>
          </p:cNvSpPr>
          <p:nvPr>
            <p:ph type="title"/>
          </p:nvPr>
        </p:nvSpPr>
        <p:spPr/>
        <p:txBody>
          <a:bodyPr>
            <a:normAutofit/>
          </a:bodyPr>
          <a:lstStyle/>
          <a:p>
            <a:pPr algn="ctr"/>
            <a:r>
              <a:rPr lang="en-US" sz="3200" b="1" dirty="0">
                <a:solidFill>
                  <a:schemeClr val="tx1"/>
                </a:solidFill>
                <a:latin typeface="Times New Roman" panose="02020603050405020304" pitchFamily="18" charset="0"/>
                <a:cs typeface="Times New Roman" panose="02020603050405020304" pitchFamily="18" charset="0"/>
              </a:rPr>
              <a:t>              TOOLS AND TECHNOLOGIES</a:t>
            </a:r>
            <a:endParaRPr lang="en-IN" sz="3200" b="1" dirty="0">
              <a:solidFill>
                <a:schemeClr val="tx1"/>
              </a:solidFill>
              <a:latin typeface="Times New Roman" panose="02020603050405020304" pitchFamily="18" charset="0"/>
              <a:cs typeface="Times New Roman" panose="02020603050405020304" pitchFamily="18" charset="0"/>
            </a:endParaRPr>
          </a:p>
        </p:txBody>
      </p:sp>
      <p:graphicFrame>
        <p:nvGraphicFramePr>
          <p:cNvPr id="7" name="Content Placeholder 6">
            <a:extLst>
              <a:ext uri="{FF2B5EF4-FFF2-40B4-BE49-F238E27FC236}">
                <a16:creationId xmlns:a16="http://schemas.microsoft.com/office/drawing/2014/main" id="{4186FE29-B193-74A3-A6D2-C2E981B3781C}"/>
              </a:ext>
            </a:extLst>
          </p:cNvPr>
          <p:cNvGraphicFramePr>
            <a:graphicFrameLocks noGrp="1"/>
          </p:cNvGraphicFramePr>
          <p:nvPr>
            <p:ph idx="1"/>
            <p:extLst>
              <p:ext uri="{D42A27DB-BD31-4B8C-83A1-F6EECF244321}">
                <p14:modId xmlns:p14="http://schemas.microsoft.com/office/powerpoint/2010/main" val="1652600066"/>
              </p:ext>
            </p:extLst>
          </p:nvPr>
        </p:nvGraphicFramePr>
        <p:xfrm>
          <a:off x="2024009" y="1582220"/>
          <a:ext cx="7746716" cy="4350965"/>
        </p:xfrm>
        <a:graphic>
          <a:graphicData uri="http://schemas.openxmlformats.org/drawingml/2006/table">
            <a:tbl>
              <a:tblPr>
                <a:tableStyleId>{5940675A-B579-460E-94D1-54222C63F5DA}</a:tableStyleId>
              </a:tblPr>
              <a:tblGrid>
                <a:gridCol w="3873358">
                  <a:extLst>
                    <a:ext uri="{9D8B030D-6E8A-4147-A177-3AD203B41FA5}">
                      <a16:colId xmlns:a16="http://schemas.microsoft.com/office/drawing/2014/main" val="4150679531"/>
                    </a:ext>
                  </a:extLst>
                </a:gridCol>
                <a:gridCol w="3873358">
                  <a:extLst>
                    <a:ext uri="{9D8B030D-6E8A-4147-A177-3AD203B41FA5}">
                      <a16:colId xmlns:a16="http://schemas.microsoft.com/office/drawing/2014/main" val="4202163923"/>
                    </a:ext>
                  </a:extLst>
                </a:gridCol>
              </a:tblGrid>
              <a:tr h="449042">
                <a:tc>
                  <a:txBody>
                    <a:bodyPr/>
                    <a:lstStyle/>
                    <a:p>
                      <a:pPr algn="ctr">
                        <a:buNone/>
                      </a:pPr>
                      <a:r>
                        <a:rPr lang="en-IN" sz="2400" b="1" dirty="0">
                          <a:effectLst/>
                          <a:latin typeface="Times New Roman" panose="02020603050405020304" pitchFamily="18" charset="0"/>
                          <a:cs typeface="Times New Roman" panose="02020603050405020304" pitchFamily="18" charset="0"/>
                        </a:rPr>
                        <a:t>Phase</a:t>
                      </a:r>
                      <a:endParaRPr lang="en-IN" sz="2400" dirty="0">
                        <a:effectLst/>
                        <a:latin typeface="Times New Roman" panose="02020603050405020304" pitchFamily="18" charset="0"/>
                        <a:cs typeface="Times New Roman" panose="02020603050405020304" pitchFamily="18" charset="0"/>
                      </a:endParaRPr>
                    </a:p>
                  </a:txBody>
                  <a:tcPr marL="50800" marR="50800" marT="50800" marB="50800" anchor="ctr">
                    <a:solidFill>
                      <a:schemeClr val="accent1">
                        <a:lumMod val="40000"/>
                        <a:lumOff val="60000"/>
                      </a:schemeClr>
                    </a:solidFill>
                  </a:tcPr>
                </a:tc>
                <a:tc>
                  <a:txBody>
                    <a:bodyPr/>
                    <a:lstStyle/>
                    <a:p>
                      <a:pPr algn="ctr">
                        <a:buNone/>
                      </a:pPr>
                      <a:r>
                        <a:rPr lang="en-IN" sz="2400" b="1" dirty="0">
                          <a:effectLst/>
                          <a:latin typeface="Times New Roman" panose="02020603050405020304" pitchFamily="18" charset="0"/>
                          <a:cs typeface="Times New Roman" panose="02020603050405020304" pitchFamily="18" charset="0"/>
                        </a:rPr>
                        <a:t>Azure Tool</a:t>
                      </a:r>
                      <a:endParaRPr lang="en-IN" sz="2400" dirty="0">
                        <a:effectLst/>
                        <a:latin typeface="Times New Roman" panose="02020603050405020304" pitchFamily="18" charset="0"/>
                        <a:cs typeface="Times New Roman" panose="02020603050405020304" pitchFamily="18" charset="0"/>
                      </a:endParaRPr>
                    </a:p>
                  </a:txBody>
                  <a:tcPr marL="50800" marR="50800" marT="50800" marB="50800" anchor="ctr">
                    <a:solidFill>
                      <a:schemeClr val="accent1">
                        <a:lumMod val="40000"/>
                        <a:lumOff val="60000"/>
                      </a:schemeClr>
                    </a:solidFill>
                  </a:tcPr>
                </a:tc>
                <a:extLst>
                  <a:ext uri="{0D108BD9-81ED-4DB2-BD59-A6C34878D82A}">
                    <a16:rowId xmlns:a16="http://schemas.microsoft.com/office/drawing/2014/main" val="1155329413"/>
                  </a:ext>
                </a:extLst>
              </a:tr>
              <a:tr h="776721">
                <a:tc>
                  <a:txBody>
                    <a:bodyPr/>
                    <a:lstStyle/>
                    <a:p>
                      <a:pPr algn="ctr">
                        <a:buNone/>
                      </a:pPr>
                      <a:r>
                        <a:rPr lang="en-IN" sz="2400" b="1">
                          <a:effectLst/>
                          <a:latin typeface="Times New Roman" panose="02020603050405020304" pitchFamily="18" charset="0"/>
                          <a:cs typeface="Times New Roman" panose="02020603050405020304" pitchFamily="18" charset="0"/>
                        </a:rPr>
                        <a:t>Data Ingestion</a:t>
                      </a:r>
                      <a:endParaRPr lang="en-IN" sz="2400">
                        <a:effectLst/>
                        <a:latin typeface="Times New Roman" panose="02020603050405020304" pitchFamily="18" charset="0"/>
                        <a:cs typeface="Times New Roman" panose="02020603050405020304" pitchFamily="18" charset="0"/>
                      </a:endParaRPr>
                    </a:p>
                  </a:txBody>
                  <a:tcPr marL="50800" marR="50800" marT="50800" marB="50800" anchor="ctr"/>
                </a:tc>
                <a:tc>
                  <a:txBody>
                    <a:bodyPr/>
                    <a:lstStyle/>
                    <a:p>
                      <a:pPr algn="ctr">
                        <a:buNone/>
                      </a:pPr>
                      <a:r>
                        <a:rPr lang="en-IN" sz="2400" b="1">
                          <a:effectLst/>
                          <a:latin typeface="Times New Roman" panose="02020603050405020304" pitchFamily="18" charset="0"/>
                          <a:cs typeface="Times New Roman" panose="02020603050405020304" pitchFamily="18" charset="0"/>
                        </a:rPr>
                        <a:t>Azure Data Lake Gen2</a:t>
                      </a:r>
                      <a:endParaRPr lang="en-IN" sz="2400">
                        <a:effectLst/>
                        <a:latin typeface="Times New Roman" panose="02020603050405020304" pitchFamily="18" charset="0"/>
                        <a:cs typeface="Times New Roman" panose="02020603050405020304" pitchFamily="18" charset="0"/>
                      </a:endParaRPr>
                    </a:p>
                  </a:txBody>
                  <a:tcPr marL="50800" marR="50800" marT="50800" marB="50800" anchor="ctr"/>
                </a:tc>
                <a:extLst>
                  <a:ext uri="{0D108BD9-81ED-4DB2-BD59-A6C34878D82A}">
                    <a16:rowId xmlns:a16="http://schemas.microsoft.com/office/drawing/2014/main" val="2111964609"/>
                  </a:ext>
                </a:extLst>
              </a:tr>
              <a:tr h="776721">
                <a:tc>
                  <a:txBody>
                    <a:bodyPr/>
                    <a:lstStyle/>
                    <a:p>
                      <a:pPr algn="ctr">
                        <a:buNone/>
                      </a:pPr>
                      <a:r>
                        <a:rPr lang="en-IN" sz="2400" b="1">
                          <a:effectLst/>
                          <a:latin typeface="Times New Roman" panose="02020603050405020304" pitchFamily="18" charset="0"/>
                          <a:cs typeface="Times New Roman" panose="02020603050405020304" pitchFamily="18" charset="0"/>
                        </a:rPr>
                        <a:t>Orchestration</a:t>
                      </a:r>
                      <a:endParaRPr lang="en-IN" sz="2400">
                        <a:effectLst/>
                        <a:latin typeface="Times New Roman" panose="02020603050405020304" pitchFamily="18" charset="0"/>
                        <a:cs typeface="Times New Roman" panose="02020603050405020304" pitchFamily="18" charset="0"/>
                      </a:endParaRPr>
                    </a:p>
                  </a:txBody>
                  <a:tcPr marL="50800" marR="50800" marT="50800" marB="50800" anchor="ctr"/>
                </a:tc>
                <a:tc>
                  <a:txBody>
                    <a:bodyPr/>
                    <a:lstStyle/>
                    <a:p>
                      <a:pPr algn="ctr">
                        <a:buNone/>
                      </a:pPr>
                      <a:r>
                        <a:rPr lang="en-IN" sz="2400" b="1" dirty="0">
                          <a:effectLst/>
                          <a:latin typeface="Times New Roman" panose="02020603050405020304" pitchFamily="18" charset="0"/>
                          <a:cs typeface="Times New Roman" panose="02020603050405020304" pitchFamily="18" charset="0"/>
                        </a:rPr>
                        <a:t>Azure Data Factory</a:t>
                      </a:r>
                      <a:endParaRPr lang="en-IN" sz="2400" dirty="0">
                        <a:effectLst/>
                        <a:latin typeface="Times New Roman" panose="02020603050405020304" pitchFamily="18" charset="0"/>
                        <a:cs typeface="Times New Roman" panose="02020603050405020304" pitchFamily="18" charset="0"/>
                      </a:endParaRPr>
                    </a:p>
                  </a:txBody>
                  <a:tcPr marL="50800" marR="50800" marT="50800" marB="50800" anchor="ctr"/>
                </a:tc>
                <a:extLst>
                  <a:ext uri="{0D108BD9-81ED-4DB2-BD59-A6C34878D82A}">
                    <a16:rowId xmlns:a16="http://schemas.microsoft.com/office/drawing/2014/main" val="1451864796"/>
                  </a:ext>
                </a:extLst>
              </a:tr>
              <a:tr h="776721">
                <a:tc>
                  <a:txBody>
                    <a:bodyPr/>
                    <a:lstStyle/>
                    <a:p>
                      <a:pPr algn="ctr">
                        <a:buNone/>
                      </a:pPr>
                      <a:r>
                        <a:rPr lang="en-IN" sz="2400" b="1">
                          <a:effectLst/>
                          <a:latin typeface="Times New Roman" panose="02020603050405020304" pitchFamily="18" charset="0"/>
                          <a:cs typeface="Times New Roman" panose="02020603050405020304" pitchFamily="18" charset="0"/>
                        </a:rPr>
                        <a:t>Data Processing</a:t>
                      </a:r>
                      <a:endParaRPr lang="en-IN" sz="2400">
                        <a:effectLst/>
                        <a:latin typeface="Times New Roman" panose="02020603050405020304" pitchFamily="18" charset="0"/>
                        <a:cs typeface="Times New Roman" panose="02020603050405020304" pitchFamily="18" charset="0"/>
                      </a:endParaRPr>
                    </a:p>
                  </a:txBody>
                  <a:tcPr marL="50800" marR="50800" marT="50800" marB="50800" anchor="ctr"/>
                </a:tc>
                <a:tc>
                  <a:txBody>
                    <a:bodyPr/>
                    <a:lstStyle/>
                    <a:p>
                      <a:pPr algn="ctr">
                        <a:buNone/>
                      </a:pPr>
                      <a:r>
                        <a:rPr lang="en-IN" sz="2400" b="1">
                          <a:effectLst/>
                          <a:latin typeface="Times New Roman" panose="02020603050405020304" pitchFamily="18" charset="0"/>
                          <a:cs typeface="Times New Roman" panose="02020603050405020304" pitchFamily="18" charset="0"/>
                        </a:rPr>
                        <a:t>Azure Databricks</a:t>
                      </a:r>
                      <a:endParaRPr lang="en-IN" sz="2400">
                        <a:effectLst/>
                        <a:latin typeface="Times New Roman" panose="02020603050405020304" pitchFamily="18" charset="0"/>
                        <a:cs typeface="Times New Roman" panose="02020603050405020304" pitchFamily="18" charset="0"/>
                      </a:endParaRPr>
                    </a:p>
                  </a:txBody>
                  <a:tcPr marL="50800" marR="50800" marT="50800" marB="50800" anchor="ctr"/>
                </a:tc>
                <a:extLst>
                  <a:ext uri="{0D108BD9-81ED-4DB2-BD59-A6C34878D82A}">
                    <a16:rowId xmlns:a16="http://schemas.microsoft.com/office/drawing/2014/main" val="180284422"/>
                  </a:ext>
                </a:extLst>
              </a:tr>
              <a:tr h="776721">
                <a:tc>
                  <a:txBody>
                    <a:bodyPr/>
                    <a:lstStyle/>
                    <a:p>
                      <a:pPr algn="ctr">
                        <a:buNone/>
                      </a:pPr>
                      <a:r>
                        <a:rPr lang="en-IN" sz="2400" b="1">
                          <a:effectLst/>
                          <a:latin typeface="Times New Roman" panose="02020603050405020304" pitchFamily="18" charset="0"/>
                          <a:cs typeface="Times New Roman" panose="02020603050405020304" pitchFamily="18" charset="0"/>
                        </a:rPr>
                        <a:t>Data Warehouse</a:t>
                      </a:r>
                      <a:endParaRPr lang="en-IN" sz="2400">
                        <a:effectLst/>
                        <a:latin typeface="Times New Roman" panose="02020603050405020304" pitchFamily="18" charset="0"/>
                        <a:cs typeface="Times New Roman" panose="02020603050405020304" pitchFamily="18" charset="0"/>
                      </a:endParaRPr>
                    </a:p>
                  </a:txBody>
                  <a:tcPr marL="50800" marR="50800" marT="50800" marB="50800" anchor="ctr"/>
                </a:tc>
                <a:tc>
                  <a:txBody>
                    <a:bodyPr/>
                    <a:lstStyle/>
                    <a:p>
                      <a:pPr algn="ctr">
                        <a:buNone/>
                      </a:pPr>
                      <a:r>
                        <a:rPr lang="en-IN" sz="2400" b="1">
                          <a:effectLst/>
                          <a:latin typeface="Times New Roman" panose="02020603050405020304" pitchFamily="18" charset="0"/>
                          <a:cs typeface="Times New Roman" panose="02020603050405020304" pitchFamily="18" charset="0"/>
                        </a:rPr>
                        <a:t>Azure Synapse</a:t>
                      </a:r>
                      <a:endParaRPr lang="en-IN" sz="2400">
                        <a:effectLst/>
                        <a:latin typeface="Times New Roman" panose="02020603050405020304" pitchFamily="18" charset="0"/>
                        <a:cs typeface="Times New Roman" panose="02020603050405020304" pitchFamily="18" charset="0"/>
                      </a:endParaRPr>
                    </a:p>
                  </a:txBody>
                  <a:tcPr marL="50800" marR="50800" marT="50800" marB="50800" anchor="ctr"/>
                </a:tc>
                <a:extLst>
                  <a:ext uri="{0D108BD9-81ED-4DB2-BD59-A6C34878D82A}">
                    <a16:rowId xmlns:a16="http://schemas.microsoft.com/office/drawing/2014/main" val="2092974959"/>
                  </a:ext>
                </a:extLst>
              </a:tr>
              <a:tr h="776721">
                <a:tc>
                  <a:txBody>
                    <a:bodyPr/>
                    <a:lstStyle/>
                    <a:p>
                      <a:pPr algn="ctr">
                        <a:buNone/>
                      </a:pPr>
                      <a:r>
                        <a:rPr lang="en-IN" sz="2400" b="1">
                          <a:effectLst/>
                          <a:latin typeface="Times New Roman" panose="02020603050405020304" pitchFamily="18" charset="0"/>
                          <a:cs typeface="Times New Roman" panose="02020603050405020304" pitchFamily="18" charset="0"/>
                        </a:rPr>
                        <a:t>Visualization</a:t>
                      </a:r>
                      <a:endParaRPr lang="en-IN" sz="2400">
                        <a:effectLst/>
                        <a:latin typeface="Times New Roman" panose="02020603050405020304" pitchFamily="18" charset="0"/>
                        <a:cs typeface="Times New Roman" panose="02020603050405020304" pitchFamily="18" charset="0"/>
                      </a:endParaRPr>
                    </a:p>
                  </a:txBody>
                  <a:tcPr marL="50800" marR="50800" marT="50800" marB="50800" anchor="ctr"/>
                </a:tc>
                <a:tc>
                  <a:txBody>
                    <a:bodyPr/>
                    <a:lstStyle/>
                    <a:p>
                      <a:pPr algn="ctr">
                        <a:buNone/>
                      </a:pPr>
                      <a:r>
                        <a:rPr lang="en-IN" sz="2400" b="1" dirty="0">
                          <a:effectLst/>
                          <a:latin typeface="Times New Roman" panose="02020603050405020304" pitchFamily="18" charset="0"/>
                          <a:cs typeface="Times New Roman" panose="02020603050405020304" pitchFamily="18" charset="0"/>
                        </a:rPr>
                        <a:t>Power BI</a:t>
                      </a:r>
                      <a:endParaRPr lang="en-IN" sz="2400" dirty="0">
                        <a:effectLst/>
                        <a:latin typeface="Times New Roman" panose="02020603050405020304" pitchFamily="18" charset="0"/>
                        <a:cs typeface="Times New Roman" panose="02020603050405020304" pitchFamily="18" charset="0"/>
                      </a:endParaRPr>
                    </a:p>
                  </a:txBody>
                  <a:tcPr marL="50800" marR="50800" marT="50800" marB="50800" anchor="ctr"/>
                </a:tc>
                <a:extLst>
                  <a:ext uri="{0D108BD9-81ED-4DB2-BD59-A6C34878D82A}">
                    <a16:rowId xmlns:a16="http://schemas.microsoft.com/office/drawing/2014/main" val="3956224853"/>
                  </a:ext>
                </a:extLst>
              </a:tr>
            </a:tbl>
          </a:graphicData>
        </a:graphic>
      </p:graphicFrame>
    </p:spTree>
    <p:extLst>
      <p:ext uri="{BB962C8B-B14F-4D97-AF65-F5344CB8AC3E}">
        <p14:creationId xmlns:p14="http://schemas.microsoft.com/office/powerpoint/2010/main" val="6130137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62792-7235-D89F-FBAC-FACDA36844E5}"/>
              </a:ext>
            </a:extLst>
          </p:cNvPr>
          <p:cNvSpPr>
            <a:spLocks noGrp="1"/>
          </p:cNvSpPr>
          <p:nvPr>
            <p:ph type="title"/>
          </p:nvPr>
        </p:nvSpPr>
        <p:spPr>
          <a:xfrm>
            <a:off x="857812" y="235734"/>
            <a:ext cx="8596668" cy="1320800"/>
          </a:xfrm>
        </p:spPr>
        <p:txBody>
          <a:bodyPr/>
          <a:lstStyle/>
          <a:p>
            <a:pPr algn="ctr"/>
            <a:r>
              <a:rPr lang="en-US" b="1" dirty="0">
                <a:solidFill>
                  <a:schemeClr val="tx1"/>
                </a:solidFill>
                <a:latin typeface="Times New Roman" panose="02020603050405020304" pitchFamily="18" charset="0"/>
                <a:cs typeface="Times New Roman" panose="02020603050405020304" pitchFamily="18" charset="0"/>
              </a:rPr>
              <a:t>                 Technical Diagram</a:t>
            </a:r>
            <a:endParaRPr lang="en-IN" b="1" dirty="0">
              <a:solidFill>
                <a:schemeClr val="tx1"/>
              </a:solidFill>
              <a:latin typeface="Times New Roman" panose="02020603050405020304" pitchFamily="18" charset="0"/>
              <a:cs typeface="Times New Roman" panose="02020603050405020304" pitchFamily="18" charset="0"/>
            </a:endParaRPr>
          </a:p>
        </p:txBody>
      </p:sp>
      <p:pic>
        <p:nvPicPr>
          <p:cNvPr id="15" name="Picture 14">
            <a:extLst>
              <a:ext uri="{FF2B5EF4-FFF2-40B4-BE49-F238E27FC236}">
                <a16:creationId xmlns:a16="http://schemas.microsoft.com/office/drawing/2014/main" id="{7219A3D5-647A-7224-0654-0E2E0C885C36}"/>
              </a:ext>
            </a:extLst>
          </p:cNvPr>
          <p:cNvPicPr>
            <a:picLocks noChangeAspect="1"/>
          </p:cNvPicPr>
          <p:nvPr/>
        </p:nvPicPr>
        <p:blipFill>
          <a:blip r:embed="rId2"/>
          <a:stretch>
            <a:fillRect/>
          </a:stretch>
        </p:blipFill>
        <p:spPr>
          <a:xfrm>
            <a:off x="1957790" y="1354650"/>
            <a:ext cx="1769022" cy="3092897"/>
          </a:xfrm>
          <a:prstGeom prst="rect">
            <a:avLst/>
          </a:prstGeom>
        </p:spPr>
      </p:pic>
      <p:pic>
        <p:nvPicPr>
          <p:cNvPr id="17" name="Picture 16">
            <a:extLst>
              <a:ext uri="{FF2B5EF4-FFF2-40B4-BE49-F238E27FC236}">
                <a16:creationId xmlns:a16="http://schemas.microsoft.com/office/drawing/2014/main" id="{A4608280-872F-198D-CBA3-5B99AC381C4B}"/>
              </a:ext>
            </a:extLst>
          </p:cNvPr>
          <p:cNvPicPr>
            <a:picLocks noChangeAspect="1"/>
          </p:cNvPicPr>
          <p:nvPr/>
        </p:nvPicPr>
        <p:blipFill>
          <a:blip r:embed="rId3"/>
          <a:stretch>
            <a:fillRect/>
          </a:stretch>
        </p:blipFill>
        <p:spPr>
          <a:xfrm>
            <a:off x="4082451" y="1355813"/>
            <a:ext cx="1769022" cy="3091737"/>
          </a:xfrm>
          <a:prstGeom prst="rect">
            <a:avLst/>
          </a:prstGeom>
        </p:spPr>
      </p:pic>
      <p:pic>
        <p:nvPicPr>
          <p:cNvPr id="19" name="Picture 18">
            <a:extLst>
              <a:ext uri="{FF2B5EF4-FFF2-40B4-BE49-F238E27FC236}">
                <a16:creationId xmlns:a16="http://schemas.microsoft.com/office/drawing/2014/main" id="{14ABA11A-57C0-269A-21AA-790F49B1C5FA}"/>
              </a:ext>
            </a:extLst>
          </p:cNvPr>
          <p:cNvPicPr>
            <a:picLocks noChangeAspect="1"/>
          </p:cNvPicPr>
          <p:nvPr/>
        </p:nvPicPr>
        <p:blipFill>
          <a:blip r:embed="rId4"/>
          <a:stretch>
            <a:fillRect/>
          </a:stretch>
        </p:blipFill>
        <p:spPr>
          <a:xfrm>
            <a:off x="8225526" y="1354651"/>
            <a:ext cx="1899912" cy="3092898"/>
          </a:xfrm>
          <a:prstGeom prst="rect">
            <a:avLst/>
          </a:prstGeom>
        </p:spPr>
      </p:pic>
      <p:pic>
        <p:nvPicPr>
          <p:cNvPr id="21" name="Picture 20">
            <a:extLst>
              <a:ext uri="{FF2B5EF4-FFF2-40B4-BE49-F238E27FC236}">
                <a16:creationId xmlns:a16="http://schemas.microsoft.com/office/drawing/2014/main" id="{C6ED778A-8F62-E43F-E3E4-0063DABC4590}"/>
              </a:ext>
            </a:extLst>
          </p:cNvPr>
          <p:cNvPicPr>
            <a:picLocks noChangeAspect="1"/>
          </p:cNvPicPr>
          <p:nvPr/>
        </p:nvPicPr>
        <p:blipFill>
          <a:blip r:embed="rId5"/>
          <a:stretch>
            <a:fillRect/>
          </a:stretch>
        </p:blipFill>
        <p:spPr>
          <a:xfrm>
            <a:off x="10430455" y="1354651"/>
            <a:ext cx="1774401" cy="3092898"/>
          </a:xfrm>
          <a:prstGeom prst="rect">
            <a:avLst/>
          </a:prstGeom>
        </p:spPr>
      </p:pic>
      <p:pic>
        <p:nvPicPr>
          <p:cNvPr id="6" name="Picture 5">
            <a:extLst>
              <a:ext uri="{FF2B5EF4-FFF2-40B4-BE49-F238E27FC236}">
                <a16:creationId xmlns:a16="http://schemas.microsoft.com/office/drawing/2014/main" id="{4AFE4FA9-2EC6-1D66-4279-810650E644E6}"/>
              </a:ext>
            </a:extLst>
          </p:cNvPr>
          <p:cNvPicPr>
            <a:picLocks noChangeAspect="1"/>
          </p:cNvPicPr>
          <p:nvPr/>
        </p:nvPicPr>
        <p:blipFill>
          <a:blip r:embed="rId6"/>
          <a:stretch>
            <a:fillRect/>
          </a:stretch>
        </p:blipFill>
        <p:spPr>
          <a:xfrm>
            <a:off x="33076" y="1355813"/>
            <a:ext cx="1569076" cy="3092896"/>
          </a:xfrm>
          <a:prstGeom prst="rect">
            <a:avLst/>
          </a:prstGeom>
        </p:spPr>
      </p:pic>
      <p:pic>
        <p:nvPicPr>
          <p:cNvPr id="14" name="Picture 13">
            <a:extLst>
              <a:ext uri="{FF2B5EF4-FFF2-40B4-BE49-F238E27FC236}">
                <a16:creationId xmlns:a16="http://schemas.microsoft.com/office/drawing/2014/main" id="{157F1ECB-1371-CF22-98C5-F70A24189C06}"/>
              </a:ext>
            </a:extLst>
          </p:cNvPr>
          <p:cNvPicPr>
            <a:picLocks noChangeAspect="1"/>
          </p:cNvPicPr>
          <p:nvPr/>
        </p:nvPicPr>
        <p:blipFill>
          <a:blip r:embed="rId7"/>
          <a:stretch>
            <a:fillRect/>
          </a:stretch>
        </p:blipFill>
        <p:spPr>
          <a:xfrm>
            <a:off x="6181134" y="1354651"/>
            <a:ext cx="1739375" cy="3092897"/>
          </a:xfrm>
          <a:prstGeom prst="rect">
            <a:avLst/>
          </a:prstGeom>
        </p:spPr>
      </p:pic>
      <p:cxnSp>
        <p:nvCxnSpPr>
          <p:cNvPr id="24" name="Straight Arrow Connector 23">
            <a:extLst>
              <a:ext uri="{FF2B5EF4-FFF2-40B4-BE49-F238E27FC236}">
                <a16:creationId xmlns:a16="http://schemas.microsoft.com/office/drawing/2014/main" id="{2830E33E-31DC-BC05-74CF-C730BBDA89D1}"/>
              </a:ext>
            </a:extLst>
          </p:cNvPr>
          <p:cNvCxnSpPr>
            <a:cxnSpLocks/>
          </p:cNvCxnSpPr>
          <p:nvPr/>
        </p:nvCxnSpPr>
        <p:spPr>
          <a:xfrm>
            <a:off x="1488821" y="2366483"/>
            <a:ext cx="576717" cy="0"/>
          </a:xfrm>
          <a:prstGeom prst="straightConnector1">
            <a:avLst/>
          </a:prstGeom>
          <a:ln w="5715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5B575E6-C38E-C66B-F7C3-4EE3EE391EDF}"/>
              </a:ext>
            </a:extLst>
          </p:cNvPr>
          <p:cNvCxnSpPr>
            <a:cxnSpLocks/>
          </p:cNvCxnSpPr>
          <p:nvPr/>
        </p:nvCxnSpPr>
        <p:spPr>
          <a:xfrm>
            <a:off x="3573029" y="2366483"/>
            <a:ext cx="576717" cy="0"/>
          </a:xfrm>
          <a:prstGeom prst="straightConnector1">
            <a:avLst/>
          </a:prstGeom>
          <a:ln w="5715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9DFA94E3-7D33-0C32-B10D-33C7A2ACDFA1}"/>
              </a:ext>
            </a:extLst>
          </p:cNvPr>
          <p:cNvCxnSpPr>
            <a:cxnSpLocks/>
          </p:cNvCxnSpPr>
          <p:nvPr/>
        </p:nvCxnSpPr>
        <p:spPr>
          <a:xfrm>
            <a:off x="5813731" y="2366483"/>
            <a:ext cx="576717" cy="0"/>
          </a:xfrm>
          <a:prstGeom prst="straightConnector1">
            <a:avLst/>
          </a:prstGeom>
          <a:ln w="5715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B3304B6-2B8E-D07B-66CE-325B421406E3}"/>
              </a:ext>
            </a:extLst>
          </p:cNvPr>
          <p:cNvCxnSpPr>
            <a:cxnSpLocks/>
          </p:cNvCxnSpPr>
          <p:nvPr/>
        </p:nvCxnSpPr>
        <p:spPr>
          <a:xfrm>
            <a:off x="7802262" y="2390459"/>
            <a:ext cx="576717" cy="0"/>
          </a:xfrm>
          <a:prstGeom prst="straightConnector1">
            <a:avLst/>
          </a:prstGeom>
          <a:ln w="57150">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562FC0-4AD3-2B21-7937-C83694920785}"/>
              </a:ext>
            </a:extLst>
          </p:cNvPr>
          <p:cNvCxnSpPr>
            <a:cxnSpLocks/>
          </p:cNvCxnSpPr>
          <p:nvPr/>
        </p:nvCxnSpPr>
        <p:spPr>
          <a:xfrm>
            <a:off x="10033385" y="2366483"/>
            <a:ext cx="576717" cy="0"/>
          </a:xfrm>
          <a:prstGeom prst="straightConnector1">
            <a:avLst/>
          </a:prstGeom>
          <a:ln w="57150">
            <a:solidFill>
              <a:srgbClr val="00206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15741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0BC4B-6F0F-57AE-9CC0-53A77CAC35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D7A437-235A-F498-D31D-650015EC6D1C}"/>
              </a:ext>
            </a:extLst>
          </p:cNvPr>
          <p:cNvSpPr>
            <a:spLocks noGrp="1"/>
          </p:cNvSpPr>
          <p:nvPr>
            <p:ph type="title"/>
          </p:nvPr>
        </p:nvSpPr>
        <p:spPr>
          <a:xfrm>
            <a:off x="851995" y="301376"/>
            <a:ext cx="8596668" cy="1320800"/>
          </a:xfrm>
        </p:spPr>
        <p:txBody>
          <a:bodyPr/>
          <a:lstStyle/>
          <a:p>
            <a:pPr algn="ctr"/>
            <a:r>
              <a:rPr lang="en-US" b="1" dirty="0">
                <a:solidFill>
                  <a:schemeClr val="tx1"/>
                </a:solidFill>
                <a:latin typeface="Times New Roman" panose="02020603050405020304" pitchFamily="18" charset="0"/>
                <a:cs typeface="Times New Roman" panose="02020603050405020304" pitchFamily="18" charset="0"/>
              </a:rPr>
              <a:t>                </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CB875A2-9D90-ED18-378B-0C1F1EA3152B}"/>
              </a:ext>
            </a:extLst>
          </p:cNvPr>
          <p:cNvSpPr>
            <a:spLocks noGrp="1"/>
          </p:cNvSpPr>
          <p:nvPr>
            <p:ph idx="1"/>
          </p:nvPr>
        </p:nvSpPr>
        <p:spPr>
          <a:xfrm>
            <a:off x="1089061" y="1369478"/>
            <a:ext cx="10531011" cy="4743646"/>
          </a:xfrm>
        </p:spPr>
        <p:txBody>
          <a:bodyPr>
            <a:normAutofit fontScale="70000" lnSpcReduction="20000"/>
          </a:bodyPr>
          <a:lstStyle/>
          <a:p>
            <a:pPr marL="0" indent="0">
              <a:lnSpc>
                <a:spcPct val="120000"/>
              </a:lnSpc>
              <a:buNone/>
            </a:pPr>
            <a:r>
              <a:rPr lang="en-IN" sz="3100" dirty="0">
                <a:latin typeface="Times New Roman" panose="02020603050405020304" pitchFamily="18" charset="0"/>
                <a:cs typeface="Times New Roman" panose="02020603050405020304" pitchFamily="18" charset="0"/>
              </a:rPr>
              <a:t>The dataset is divided into </a:t>
            </a:r>
            <a:r>
              <a:rPr lang="en-IN" sz="3100" b="1" dirty="0">
                <a:latin typeface="Times New Roman" panose="02020603050405020304" pitchFamily="18" charset="0"/>
                <a:cs typeface="Times New Roman" panose="02020603050405020304" pitchFamily="18" charset="0"/>
              </a:rPr>
              <a:t>one fact table and multiple dimension tables</a:t>
            </a:r>
            <a:r>
              <a:rPr lang="en-IN" sz="3100" dirty="0">
                <a:latin typeface="Times New Roman" panose="02020603050405020304" pitchFamily="18" charset="0"/>
                <a:cs typeface="Times New Roman" panose="02020603050405020304" pitchFamily="18" charset="0"/>
              </a:rPr>
              <a:t>.</a:t>
            </a:r>
          </a:p>
          <a:p>
            <a:pPr>
              <a:lnSpc>
                <a:spcPct val="120000"/>
              </a:lnSpc>
            </a:pPr>
            <a:r>
              <a:rPr lang="en-IN" sz="3100" b="1" dirty="0" err="1">
                <a:latin typeface="Times New Roman" panose="02020603050405020304" pitchFamily="18" charset="0"/>
                <a:cs typeface="Times New Roman" panose="02020603050405020304" pitchFamily="18" charset="0"/>
              </a:rPr>
              <a:t>Fact_Sales</a:t>
            </a:r>
            <a:r>
              <a:rPr lang="en-IN" sz="3100" dirty="0">
                <a:latin typeface="Times New Roman" panose="02020603050405020304" pitchFamily="18" charset="0"/>
                <a:cs typeface="Times New Roman" panose="02020603050405020304" pitchFamily="18" charset="0"/>
              </a:rPr>
              <a:t> → Central transactional table</a:t>
            </a:r>
          </a:p>
          <a:p>
            <a:pPr>
              <a:lnSpc>
                <a:spcPct val="120000"/>
              </a:lnSpc>
            </a:pPr>
            <a:r>
              <a:rPr lang="en-IN" sz="3100" b="1" dirty="0" err="1">
                <a:latin typeface="Times New Roman" panose="02020603050405020304" pitchFamily="18" charset="0"/>
                <a:cs typeface="Times New Roman" panose="02020603050405020304" pitchFamily="18" charset="0"/>
              </a:rPr>
              <a:t>Dim_Date</a:t>
            </a:r>
            <a:r>
              <a:rPr lang="en-IN" sz="3100" dirty="0">
                <a:latin typeface="Times New Roman" panose="02020603050405020304" pitchFamily="18" charset="0"/>
                <a:cs typeface="Times New Roman" panose="02020603050405020304" pitchFamily="18" charset="0"/>
              </a:rPr>
              <a:t> → Time-based analysis</a:t>
            </a:r>
          </a:p>
          <a:p>
            <a:pPr>
              <a:lnSpc>
                <a:spcPct val="120000"/>
              </a:lnSpc>
            </a:pPr>
            <a:r>
              <a:rPr lang="en-IN" sz="3100" b="1" dirty="0" err="1">
                <a:latin typeface="Times New Roman" panose="02020603050405020304" pitchFamily="18" charset="0"/>
                <a:cs typeface="Times New Roman" panose="02020603050405020304" pitchFamily="18" charset="0"/>
              </a:rPr>
              <a:t>Dim_Product</a:t>
            </a:r>
            <a:r>
              <a:rPr lang="en-IN" sz="3100" dirty="0">
                <a:latin typeface="Times New Roman" panose="02020603050405020304" pitchFamily="18" charset="0"/>
                <a:cs typeface="Times New Roman" panose="02020603050405020304" pitchFamily="18" charset="0"/>
              </a:rPr>
              <a:t> → Category, size, </a:t>
            </a:r>
            <a:r>
              <a:rPr lang="en-IN" sz="3100" dirty="0" err="1">
                <a:latin typeface="Times New Roman" panose="02020603050405020304" pitchFamily="18" charset="0"/>
                <a:cs typeface="Times New Roman" panose="02020603050405020304" pitchFamily="18" charset="0"/>
              </a:rPr>
              <a:t>color</a:t>
            </a:r>
            <a:r>
              <a:rPr lang="en-IN" sz="3100" dirty="0">
                <a:latin typeface="Times New Roman" panose="02020603050405020304" pitchFamily="18" charset="0"/>
                <a:cs typeface="Times New Roman" panose="02020603050405020304" pitchFamily="18" charset="0"/>
              </a:rPr>
              <a:t>, brand</a:t>
            </a:r>
          </a:p>
          <a:p>
            <a:pPr>
              <a:lnSpc>
                <a:spcPct val="120000"/>
              </a:lnSpc>
            </a:pPr>
            <a:r>
              <a:rPr lang="en-IN" sz="3100" b="1" dirty="0" err="1">
                <a:latin typeface="Times New Roman" panose="02020603050405020304" pitchFamily="18" charset="0"/>
                <a:cs typeface="Times New Roman" panose="02020603050405020304" pitchFamily="18" charset="0"/>
              </a:rPr>
              <a:t>Dim_Customer</a:t>
            </a:r>
            <a:r>
              <a:rPr lang="en-IN" sz="3100" dirty="0">
                <a:latin typeface="Times New Roman" panose="02020603050405020304" pitchFamily="18" charset="0"/>
                <a:cs typeface="Times New Roman" panose="02020603050405020304" pitchFamily="18" charset="0"/>
              </a:rPr>
              <a:t> → Customer </a:t>
            </a:r>
            <a:r>
              <a:rPr lang="en-IN" sz="3100" dirty="0" err="1">
                <a:latin typeface="Times New Roman" panose="02020603050405020304" pitchFamily="18" charset="0"/>
                <a:cs typeface="Times New Roman" panose="02020603050405020304" pitchFamily="18" charset="0"/>
              </a:rPr>
              <a:t>behavior</a:t>
            </a:r>
            <a:r>
              <a:rPr lang="en-IN" sz="3100" dirty="0">
                <a:latin typeface="Times New Roman" panose="02020603050405020304" pitchFamily="18" charset="0"/>
                <a:cs typeface="Times New Roman" panose="02020603050405020304" pitchFamily="18" charset="0"/>
              </a:rPr>
              <a:t> tracking</a:t>
            </a:r>
          </a:p>
          <a:p>
            <a:pPr>
              <a:lnSpc>
                <a:spcPct val="120000"/>
              </a:lnSpc>
            </a:pPr>
            <a:r>
              <a:rPr lang="en-IN" sz="3100" b="1" dirty="0" err="1">
                <a:latin typeface="Times New Roman" panose="02020603050405020304" pitchFamily="18" charset="0"/>
                <a:cs typeface="Times New Roman" panose="02020603050405020304" pitchFamily="18" charset="0"/>
              </a:rPr>
              <a:t>Dim_Employee</a:t>
            </a:r>
            <a:r>
              <a:rPr lang="en-IN" sz="3100" dirty="0">
                <a:latin typeface="Times New Roman" panose="02020603050405020304" pitchFamily="18" charset="0"/>
                <a:cs typeface="Times New Roman" panose="02020603050405020304" pitchFamily="18" charset="0"/>
              </a:rPr>
              <a:t> → Sales contribution per staff</a:t>
            </a:r>
          </a:p>
          <a:p>
            <a:pPr>
              <a:lnSpc>
                <a:spcPct val="120000"/>
              </a:lnSpc>
            </a:pPr>
            <a:r>
              <a:rPr lang="en-IN" sz="3100" b="1" dirty="0" err="1">
                <a:latin typeface="Times New Roman" panose="02020603050405020304" pitchFamily="18" charset="0"/>
                <a:cs typeface="Times New Roman" panose="02020603050405020304" pitchFamily="18" charset="0"/>
              </a:rPr>
              <a:t>Dim_Store</a:t>
            </a:r>
            <a:r>
              <a:rPr lang="en-IN" sz="3100" b="1" dirty="0">
                <a:latin typeface="Times New Roman" panose="02020603050405020304" pitchFamily="18" charset="0"/>
                <a:cs typeface="Times New Roman" panose="02020603050405020304" pitchFamily="18" charset="0"/>
              </a:rPr>
              <a:t> &amp; </a:t>
            </a:r>
            <a:r>
              <a:rPr lang="en-IN" sz="3100" b="1" dirty="0" err="1">
                <a:latin typeface="Times New Roman" panose="02020603050405020304" pitchFamily="18" charset="0"/>
                <a:cs typeface="Times New Roman" panose="02020603050405020304" pitchFamily="18" charset="0"/>
              </a:rPr>
              <a:t>Dim_Branch</a:t>
            </a:r>
            <a:r>
              <a:rPr lang="en-IN" sz="3100" dirty="0">
                <a:latin typeface="Times New Roman" panose="02020603050405020304" pitchFamily="18" charset="0"/>
                <a:cs typeface="Times New Roman" panose="02020603050405020304" pitchFamily="18" charset="0"/>
              </a:rPr>
              <a:t> → Location-based analysis</a:t>
            </a:r>
          </a:p>
          <a:p>
            <a:pPr>
              <a:lnSpc>
                <a:spcPct val="120000"/>
              </a:lnSpc>
            </a:pPr>
            <a:r>
              <a:rPr lang="en-IN" sz="3100" b="1" dirty="0" err="1">
                <a:latin typeface="Times New Roman" panose="02020603050405020304" pitchFamily="18" charset="0"/>
                <a:cs typeface="Times New Roman" panose="02020603050405020304" pitchFamily="18" charset="0"/>
              </a:rPr>
              <a:t>Dim_Promotion</a:t>
            </a:r>
            <a:r>
              <a:rPr lang="en-IN" sz="3100" dirty="0">
                <a:latin typeface="Times New Roman" panose="02020603050405020304" pitchFamily="18" charset="0"/>
                <a:cs typeface="Times New Roman" panose="02020603050405020304" pitchFamily="18" charset="0"/>
              </a:rPr>
              <a:t> → Discount effectiveness</a:t>
            </a:r>
          </a:p>
          <a:p>
            <a:pPr>
              <a:lnSpc>
                <a:spcPct val="120000"/>
              </a:lnSpc>
            </a:pPr>
            <a:r>
              <a:rPr lang="en-IN" sz="3100" b="1" dirty="0" err="1">
                <a:latin typeface="Times New Roman" panose="02020603050405020304" pitchFamily="18" charset="0"/>
                <a:cs typeface="Times New Roman" panose="02020603050405020304" pitchFamily="18" charset="0"/>
              </a:rPr>
              <a:t>Dim_Inventory</a:t>
            </a:r>
            <a:r>
              <a:rPr lang="en-IN" sz="3100" dirty="0">
                <a:latin typeface="Times New Roman" panose="02020603050405020304" pitchFamily="18" charset="0"/>
                <a:cs typeface="Times New Roman" panose="02020603050405020304" pitchFamily="18" charset="0"/>
              </a:rPr>
              <a:t> → Stock level monitoring</a:t>
            </a:r>
          </a:p>
          <a:p>
            <a:pPr>
              <a:lnSpc>
                <a:spcPct val="120000"/>
              </a:lnSpc>
            </a:pPr>
            <a:r>
              <a:rPr lang="en-IN" sz="3100" b="1" dirty="0" err="1">
                <a:latin typeface="Times New Roman" panose="02020603050405020304" pitchFamily="18" charset="0"/>
                <a:cs typeface="Times New Roman" panose="02020603050405020304" pitchFamily="18" charset="0"/>
              </a:rPr>
              <a:t>Dim_Supplier</a:t>
            </a:r>
            <a:r>
              <a:rPr lang="en-IN" sz="3100" dirty="0">
                <a:latin typeface="Times New Roman" panose="02020603050405020304" pitchFamily="18" charset="0"/>
                <a:cs typeface="Times New Roman" panose="02020603050405020304" pitchFamily="18" charset="0"/>
              </a:rPr>
              <a:t> → Supply chain insights</a:t>
            </a:r>
          </a:p>
          <a:p>
            <a:pPr marL="0" indent="0">
              <a:buNone/>
            </a:pPr>
            <a:endParaRPr lang="en-IN" sz="26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FBD1D8E-B808-7954-D35F-6DBF9B684F0D}"/>
              </a:ext>
            </a:extLst>
          </p:cNvPr>
          <p:cNvSpPr txBox="1"/>
          <p:nvPr/>
        </p:nvSpPr>
        <p:spPr>
          <a:xfrm>
            <a:off x="4500080" y="560210"/>
            <a:ext cx="7222733"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DATASET</a:t>
            </a:r>
            <a:endParaRPr lang="en-IN"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02903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A7E63-6ADB-0B1A-0DAE-E575CFD412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EE7532-6C85-89D6-032B-D1731346B34F}"/>
              </a:ext>
            </a:extLst>
          </p:cNvPr>
          <p:cNvSpPr>
            <a:spLocks noGrp="1"/>
          </p:cNvSpPr>
          <p:nvPr>
            <p:ph type="title"/>
          </p:nvPr>
        </p:nvSpPr>
        <p:spPr>
          <a:xfrm>
            <a:off x="851995" y="301376"/>
            <a:ext cx="8596668" cy="1320800"/>
          </a:xfrm>
        </p:spPr>
        <p:txBody>
          <a:bodyPr/>
          <a:lstStyle/>
          <a:p>
            <a:pPr algn="ctr"/>
            <a:r>
              <a:rPr lang="en-US" b="1" dirty="0">
                <a:solidFill>
                  <a:schemeClr val="tx1"/>
                </a:solidFill>
                <a:latin typeface="Times New Roman" panose="02020603050405020304" pitchFamily="18" charset="0"/>
                <a:cs typeface="Times New Roman" panose="02020603050405020304" pitchFamily="18" charset="0"/>
              </a:rPr>
              <a:t>                </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D6457E33-C9CC-0AFE-E699-1F29AD78054C}"/>
              </a:ext>
            </a:extLst>
          </p:cNvPr>
          <p:cNvSpPr txBox="1"/>
          <p:nvPr/>
        </p:nvSpPr>
        <p:spPr>
          <a:xfrm>
            <a:off x="3311634" y="573817"/>
            <a:ext cx="7222733"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FACT AND DIMENSIONS TABLES</a:t>
            </a:r>
            <a:endParaRPr lang="en-IN" sz="2800" b="1" dirty="0">
              <a:latin typeface="Times New Roman" panose="02020603050405020304" pitchFamily="18" charset="0"/>
              <a:cs typeface="Times New Roman" panose="02020603050405020304" pitchFamily="18" charset="0"/>
            </a:endParaRPr>
          </a:p>
        </p:txBody>
      </p:sp>
      <p:pic>
        <p:nvPicPr>
          <p:cNvPr id="26" name="Picture 25">
            <a:extLst>
              <a:ext uri="{FF2B5EF4-FFF2-40B4-BE49-F238E27FC236}">
                <a16:creationId xmlns:a16="http://schemas.microsoft.com/office/drawing/2014/main" id="{A3239652-495A-7954-9A6F-CB213A889DD4}"/>
              </a:ext>
            </a:extLst>
          </p:cNvPr>
          <p:cNvPicPr>
            <a:picLocks noChangeAspect="1"/>
          </p:cNvPicPr>
          <p:nvPr/>
        </p:nvPicPr>
        <p:blipFill>
          <a:blip r:embed="rId2"/>
          <a:stretch>
            <a:fillRect/>
          </a:stretch>
        </p:blipFill>
        <p:spPr>
          <a:xfrm>
            <a:off x="397111" y="1277070"/>
            <a:ext cx="3886742" cy="4341963"/>
          </a:xfrm>
          <a:prstGeom prst="rect">
            <a:avLst/>
          </a:prstGeom>
        </p:spPr>
      </p:pic>
      <p:pic>
        <p:nvPicPr>
          <p:cNvPr id="30" name="Picture 29">
            <a:extLst>
              <a:ext uri="{FF2B5EF4-FFF2-40B4-BE49-F238E27FC236}">
                <a16:creationId xmlns:a16="http://schemas.microsoft.com/office/drawing/2014/main" id="{729D7151-6FBF-6C41-22FE-D6B7F0A910CA}"/>
              </a:ext>
            </a:extLst>
          </p:cNvPr>
          <p:cNvPicPr>
            <a:picLocks noChangeAspect="1"/>
          </p:cNvPicPr>
          <p:nvPr/>
        </p:nvPicPr>
        <p:blipFill>
          <a:blip r:embed="rId3"/>
          <a:stretch>
            <a:fillRect/>
          </a:stretch>
        </p:blipFill>
        <p:spPr>
          <a:xfrm>
            <a:off x="4573934" y="1280811"/>
            <a:ext cx="3334215" cy="4334480"/>
          </a:xfrm>
          <a:prstGeom prst="rect">
            <a:avLst/>
          </a:prstGeom>
        </p:spPr>
      </p:pic>
      <p:pic>
        <p:nvPicPr>
          <p:cNvPr id="32" name="Picture 31">
            <a:extLst>
              <a:ext uri="{FF2B5EF4-FFF2-40B4-BE49-F238E27FC236}">
                <a16:creationId xmlns:a16="http://schemas.microsoft.com/office/drawing/2014/main" id="{EC1E19EA-2FFF-C0AD-784C-899E4147212C}"/>
              </a:ext>
            </a:extLst>
          </p:cNvPr>
          <p:cNvPicPr>
            <a:picLocks noChangeAspect="1"/>
          </p:cNvPicPr>
          <p:nvPr/>
        </p:nvPicPr>
        <p:blipFill>
          <a:blip r:embed="rId4"/>
          <a:stretch>
            <a:fillRect/>
          </a:stretch>
        </p:blipFill>
        <p:spPr>
          <a:xfrm>
            <a:off x="8198230" y="1242707"/>
            <a:ext cx="3686689" cy="4372585"/>
          </a:xfrm>
          <a:prstGeom prst="rect">
            <a:avLst/>
          </a:prstGeom>
        </p:spPr>
      </p:pic>
    </p:spTree>
    <p:extLst>
      <p:ext uri="{BB962C8B-B14F-4D97-AF65-F5344CB8AC3E}">
        <p14:creationId xmlns:p14="http://schemas.microsoft.com/office/powerpoint/2010/main" val="1204758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D1616-051E-C0F3-A272-E2F1A02D4C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DA5134-7220-7722-90B0-C49447C0B740}"/>
              </a:ext>
            </a:extLst>
          </p:cNvPr>
          <p:cNvSpPr>
            <a:spLocks noGrp="1"/>
          </p:cNvSpPr>
          <p:nvPr>
            <p:ph type="title"/>
          </p:nvPr>
        </p:nvSpPr>
        <p:spPr>
          <a:xfrm>
            <a:off x="851995" y="301376"/>
            <a:ext cx="8596668" cy="1320800"/>
          </a:xfrm>
        </p:spPr>
        <p:txBody>
          <a:bodyPr/>
          <a:lstStyle/>
          <a:p>
            <a:pPr algn="ctr"/>
            <a:r>
              <a:rPr lang="en-US" b="1" dirty="0">
                <a:solidFill>
                  <a:schemeClr val="tx1"/>
                </a:solidFill>
                <a:latin typeface="Times New Roman" panose="02020603050405020304" pitchFamily="18" charset="0"/>
                <a:cs typeface="Times New Roman" panose="02020603050405020304" pitchFamily="18" charset="0"/>
              </a:rPr>
              <a:t>                </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C15DAF0-E0C2-579E-17A8-2760CFF570CD}"/>
              </a:ext>
            </a:extLst>
          </p:cNvPr>
          <p:cNvSpPr txBox="1"/>
          <p:nvPr/>
        </p:nvSpPr>
        <p:spPr>
          <a:xfrm>
            <a:off x="3524422" y="566243"/>
            <a:ext cx="7222733"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DIMENSIONS TABLES</a:t>
            </a:r>
            <a:endParaRPr lang="en-IN" sz="2800" b="1"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DCEA7DED-1915-46FD-8476-D5044086DFD1}"/>
              </a:ext>
            </a:extLst>
          </p:cNvPr>
          <p:cNvPicPr>
            <a:picLocks noChangeAspect="1"/>
          </p:cNvPicPr>
          <p:nvPr/>
        </p:nvPicPr>
        <p:blipFill>
          <a:blip r:embed="rId2"/>
          <a:stretch>
            <a:fillRect/>
          </a:stretch>
        </p:blipFill>
        <p:spPr>
          <a:xfrm>
            <a:off x="9125009" y="1369477"/>
            <a:ext cx="2494764" cy="3985101"/>
          </a:xfrm>
          <a:prstGeom prst="rect">
            <a:avLst/>
          </a:prstGeom>
        </p:spPr>
      </p:pic>
      <p:pic>
        <p:nvPicPr>
          <p:cNvPr id="17" name="Picture 16">
            <a:extLst>
              <a:ext uri="{FF2B5EF4-FFF2-40B4-BE49-F238E27FC236}">
                <a16:creationId xmlns:a16="http://schemas.microsoft.com/office/drawing/2014/main" id="{8D960025-F1C1-4C1A-8AF8-1AAA4728C5B3}"/>
              </a:ext>
            </a:extLst>
          </p:cNvPr>
          <p:cNvPicPr>
            <a:picLocks noChangeAspect="1"/>
          </p:cNvPicPr>
          <p:nvPr/>
        </p:nvPicPr>
        <p:blipFill>
          <a:blip r:embed="rId3"/>
          <a:stretch>
            <a:fillRect/>
          </a:stretch>
        </p:blipFill>
        <p:spPr>
          <a:xfrm>
            <a:off x="3524422" y="1361904"/>
            <a:ext cx="2494764" cy="3992673"/>
          </a:xfrm>
          <a:prstGeom prst="rect">
            <a:avLst/>
          </a:prstGeom>
        </p:spPr>
      </p:pic>
      <p:pic>
        <p:nvPicPr>
          <p:cNvPr id="21" name="Picture 20">
            <a:extLst>
              <a:ext uri="{FF2B5EF4-FFF2-40B4-BE49-F238E27FC236}">
                <a16:creationId xmlns:a16="http://schemas.microsoft.com/office/drawing/2014/main" id="{8C89D79C-06C9-762F-BF2B-FE752EEDB138}"/>
              </a:ext>
            </a:extLst>
          </p:cNvPr>
          <p:cNvPicPr>
            <a:picLocks noChangeAspect="1"/>
          </p:cNvPicPr>
          <p:nvPr/>
        </p:nvPicPr>
        <p:blipFill>
          <a:blip r:embed="rId4"/>
          <a:stretch>
            <a:fillRect/>
          </a:stretch>
        </p:blipFill>
        <p:spPr>
          <a:xfrm>
            <a:off x="6452583" y="1369478"/>
            <a:ext cx="2239029" cy="3985102"/>
          </a:xfrm>
          <a:prstGeom prst="rect">
            <a:avLst/>
          </a:prstGeom>
        </p:spPr>
      </p:pic>
      <p:pic>
        <p:nvPicPr>
          <p:cNvPr id="29" name="Picture 28">
            <a:extLst>
              <a:ext uri="{FF2B5EF4-FFF2-40B4-BE49-F238E27FC236}">
                <a16:creationId xmlns:a16="http://schemas.microsoft.com/office/drawing/2014/main" id="{8AEC1759-3472-BE62-A2D1-0834F3EBD829}"/>
              </a:ext>
            </a:extLst>
          </p:cNvPr>
          <p:cNvPicPr>
            <a:picLocks noChangeAspect="1"/>
          </p:cNvPicPr>
          <p:nvPr/>
        </p:nvPicPr>
        <p:blipFill>
          <a:blip r:embed="rId5"/>
          <a:stretch>
            <a:fillRect/>
          </a:stretch>
        </p:blipFill>
        <p:spPr>
          <a:xfrm>
            <a:off x="173254" y="1411085"/>
            <a:ext cx="2839453" cy="3943492"/>
          </a:xfrm>
          <a:prstGeom prst="rect">
            <a:avLst/>
          </a:prstGeom>
        </p:spPr>
      </p:pic>
    </p:spTree>
    <p:extLst>
      <p:ext uri="{BB962C8B-B14F-4D97-AF65-F5344CB8AC3E}">
        <p14:creationId xmlns:p14="http://schemas.microsoft.com/office/powerpoint/2010/main" val="5902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55802-B797-3D78-8A52-38FD2BAEA3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174A9-6D33-43C7-050B-BB3F8DF48337}"/>
              </a:ext>
            </a:extLst>
          </p:cNvPr>
          <p:cNvSpPr>
            <a:spLocks noGrp="1"/>
          </p:cNvSpPr>
          <p:nvPr>
            <p:ph type="title"/>
          </p:nvPr>
        </p:nvSpPr>
        <p:spPr>
          <a:xfrm>
            <a:off x="851995" y="301376"/>
            <a:ext cx="8596668" cy="1320800"/>
          </a:xfrm>
        </p:spPr>
        <p:txBody>
          <a:bodyPr/>
          <a:lstStyle/>
          <a:p>
            <a:pPr algn="ctr"/>
            <a:r>
              <a:rPr lang="en-US" b="1" dirty="0">
                <a:solidFill>
                  <a:schemeClr val="tx1"/>
                </a:solidFill>
                <a:latin typeface="Times New Roman" panose="02020603050405020304" pitchFamily="18" charset="0"/>
                <a:cs typeface="Times New Roman" panose="02020603050405020304" pitchFamily="18" charset="0"/>
              </a:rPr>
              <a:t>                </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3B0DD306-A115-6630-11AE-A57010CF24AB}"/>
              </a:ext>
            </a:extLst>
          </p:cNvPr>
          <p:cNvSpPr txBox="1"/>
          <p:nvPr/>
        </p:nvSpPr>
        <p:spPr>
          <a:xfrm>
            <a:off x="3311634" y="573817"/>
            <a:ext cx="7222733"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DIMENSIONS TABLES</a:t>
            </a:r>
            <a:endParaRPr lang="en-IN" sz="2800" b="1" dirty="0">
              <a:latin typeface="Times New Roman" panose="02020603050405020304" pitchFamily="18" charset="0"/>
              <a:cs typeface="Times New Roman" panose="02020603050405020304" pitchFamily="18" charset="0"/>
            </a:endParaRPr>
          </a:p>
        </p:txBody>
      </p:sp>
      <p:pic>
        <p:nvPicPr>
          <p:cNvPr id="13" name="Picture 12">
            <a:extLst>
              <a:ext uri="{FF2B5EF4-FFF2-40B4-BE49-F238E27FC236}">
                <a16:creationId xmlns:a16="http://schemas.microsoft.com/office/drawing/2014/main" id="{679E16D3-8AA7-21FD-77C2-F4D0E079497D}"/>
              </a:ext>
            </a:extLst>
          </p:cNvPr>
          <p:cNvPicPr>
            <a:picLocks noChangeAspect="1"/>
          </p:cNvPicPr>
          <p:nvPr/>
        </p:nvPicPr>
        <p:blipFill>
          <a:blip r:embed="rId2"/>
          <a:stretch>
            <a:fillRect/>
          </a:stretch>
        </p:blipFill>
        <p:spPr>
          <a:xfrm>
            <a:off x="986603" y="1894617"/>
            <a:ext cx="2569272" cy="3934374"/>
          </a:xfrm>
          <a:prstGeom prst="rect">
            <a:avLst/>
          </a:prstGeom>
        </p:spPr>
      </p:pic>
      <p:pic>
        <p:nvPicPr>
          <p:cNvPr id="25" name="Picture 24">
            <a:extLst>
              <a:ext uri="{FF2B5EF4-FFF2-40B4-BE49-F238E27FC236}">
                <a16:creationId xmlns:a16="http://schemas.microsoft.com/office/drawing/2014/main" id="{B2900A01-85DF-ADBA-0047-F806D750671E}"/>
              </a:ext>
            </a:extLst>
          </p:cNvPr>
          <p:cNvPicPr>
            <a:picLocks noChangeAspect="1"/>
          </p:cNvPicPr>
          <p:nvPr/>
        </p:nvPicPr>
        <p:blipFill>
          <a:blip r:embed="rId3"/>
          <a:stretch>
            <a:fillRect/>
          </a:stretch>
        </p:blipFill>
        <p:spPr>
          <a:xfrm>
            <a:off x="4317967" y="1894617"/>
            <a:ext cx="2437117" cy="3934374"/>
          </a:xfrm>
          <a:prstGeom prst="rect">
            <a:avLst/>
          </a:prstGeom>
        </p:spPr>
      </p:pic>
      <p:pic>
        <p:nvPicPr>
          <p:cNvPr id="27" name="Picture 26">
            <a:extLst>
              <a:ext uri="{FF2B5EF4-FFF2-40B4-BE49-F238E27FC236}">
                <a16:creationId xmlns:a16="http://schemas.microsoft.com/office/drawing/2014/main" id="{95D5AE92-DBE4-D93B-7467-4D382514BF0A}"/>
              </a:ext>
            </a:extLst>
          </p:cNvPr>
          <p:cNvPicPr>
            <a:picLocks noChangeAspect="1"/>
          </p:cNvPicPr>
          <p:nvPr/>
        </p:nvPicPr>
        <p:blipFill>
          <a:blip r:embed="rId4"/>
          <a:stretch>
            <a:fillRect/>
          </a:stretch>
        </p:blipFill>
        <p:spPr>
          <a:xfrm>
            <a:off x="7517176" y="1894617"/>
            <a:ext cx="3017191" cy="3858163"/>
          </a:xfrm>
          <a:prstGeom prst="rect">
            <a:avLst/>
          </a:prstGeom>
        </p:spPr>
      </p:pic>
    </p:spTree>
    <p:extLst>
      <p:ext uri="{BB962C8B-B14F-4D97-AF65-F5344CB8AC3E}">
        <p14:creationId xmlns:p14="http://schemas.microsoft.com/office/powerpoint/2010/main" val="5021344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0188B-2233-E74A-4751-1978C8796FC9}"/>
              </a:ext>
            </a:extLst>
          </p:cNvPr>
          <p:cNvSpPr>
            <a:spLocks noGrp="1"/>
          </p:cNvSpPr>
          <p:nvPr>
            <p:ph type="title"/>
          </p:nvPr>
        </p:nvSpPr>
        <p:spPr>
          <a:xfrm>
            <a:off x="677334" y="609600"/>
            <a:ext cx="9750936" cy="1320800"/>
          </a:xfrm>
        </p:spPr>
        <p:txBody>
          <a:bodyPr/>
          <a:lstStyle/>
          <a:p>
            <a:r>
              <a:rPr lang="en-US" b="1" dirty="0">
                <a:solidFill>
                  <a:schemeClr val="tx1"/>
                </a:solidFill>
                <a:latin typeface="Times New Roman" panose="02020603050405020304" pitchFamily="18" charset="0"/>
                <a:cs typeface="Times New Roman" panose="02020603050405020304" pitchFamily="18" charset="0"/>
              </a:rPr>
              <a:t>                           Schema Modelling</a:t>
            </a:r>
            <a:endParaRPr lang="en-IN" b="1" dirty="0">
              <a:solidFill>
                <a:schemeClr val="tx1"/>
              </a:solidFill>
              <a:latin typeface="Times New Roman" panose="02020603050405020304" pitchFamily="18" charset="0"/>
              <a:cs typeface="Times New Roman" panose="02020603050405020304" pitchFamily="18" charset="0"/>
            </a:endParaRPr>
          </a:p>
        </p:txBody>
      </p:sp>
      <p:pic>
        <p:nvPicPr>
          <p:cNvPr id="7" name="Content Placeholder 6">
            <a:extLst>
              <a:ext uri="{FF2B5EF4-FFF2-40B4-BE49-F238E27FC236}">
                <a16:creationId xmlns:a16="http://schemas.microsoft.com/office/drawing/2014/main" id="{D43F1264-A6C1-DB15-618C-361C30637F8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284270" y="1703703"/>
            <a:ext cx="8712485" cy="4346789"/>
          </a:xfrm>
        </p:spPr>
      </p:pic>
    </p:spTree>
    <p:extLst>
      <p:ext uri="{BB962C8B-B14F-4D97-AF65-F5344CB8AC3E}">
        <p14:creationId xmlns:p14="http://schemas.microsoft.com/office/powerpoint/2010/main" val="8158957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C3E90-41B9-0FD2-63B3-D34B0F9CCE51}"/>
              </a:ext>
            </a:extLst>
          </p:cNvPr>
          <p:cNvSpPr>
            <a:spLocks noGrp="1"/>
          </p:cNvSpPr>
          <p:nvPr>
            <p:ph type="title"/>
          </p:nvPr>
        </p:nvSpPr>
        <p:spPr>
          <a:xfrm>
            <a:off x="851995" y="301376"/>
            <a:ext cx="8596668" cy="1320800"/>
          </a:xfrm>
        </p:spPr>
        <p:txBody>
          <a:bodyPr/>
          <a:lstStyle/>
          <a:p>
            <a:pPr algn="ctr"/>
            <a:r>
              <a:rPr lang="en-US" b="1" dirty="0">
                <a:solidFill>
                  <a:schemeClr val="tx1"/>
                </a:solidFill>
                <a:latin typeface="Times New Roman" panose="02020603050405020304" pitchFamily="18" charset="0"/>
                <a:cs typeface="Times New Roman" panose="02020603050405020304" pitchFamily="18" charset="0"/>
              </a:rPr>
              <a:t>                Key Performance Indicators</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7372B3C-1407-FB62-0BC0-C2F0B0D6BF5E}"/>
              </a:ext>
            </a:extLst>
          </p:cNvPr>
          <p:cNvSpPr>
            <a:spLocks noGrp="1"/>
          </p:cNvSpPr>
          <p:nvPr>
            <p:ph idx="1"/>
          </p:nvPr>
        </p:nvSpPr>
        <p:spPr>
          <a:xfrm>
            <a:off x="1089061" y="1369478"/>
            <a:ext cx="10531011" cy="4743646"/>
          </a:xfrm>
        </p:spPr>
        <p:txBody>
          <a:bodyPr>
            <a:normAutofit/>
          </a:bodyPr>
          <a:lstStyle/>
          <a:p>
            <a:pPr marL="0" indent="0">
              <a:buNone/>
            </a:pPr>
            <a:r>
              <a:rPr lang="en-US" sz="3000" b="1" dirty="0">
                <a:latin typeface="Times New Roman" panose="02020603050405020304" pitchFamily="18" charset="0"/>
                <a:cs typeface="Times New Roman" panose="02020603050405020304" pitchFamily="18" charset="0"/>
              </a:rPr>
              <a:t>Positive KPIs</a:t>
            </a:r>
          </a:p>
          <a:p>
            <a:pPr>
              <a:buClr>
                <a:schemeClr val="tx1">
                  <a:lumMod val="95000"/>
                  <a:lumOff val="5000"/>
                </a:schemeClr>
              </a:buClr>
              <a:buFont typeface="Wingdings" panose="05000000000000000000" pitchFamily="2" charset="2"/>
              <a:buChar char="Ø"/>
            </a:pPr>
            <a:r>
              <a:rPr lang="en-IN" sz="2600" b="1" dirty="0">
                <a:latin typeface="Times New Roman" panose="02020603050405020304" pitchFamily="18" charset="0"/>
                <a:cs typeface="Times New Roman" panose="02020603050405020304" pitchFamily="18" charset="0"/>
              </a:rPr>
              <a:t>Total Revenue</a:t>
            </a:r>
          </a:p>
          <a:p>
            <a:pPr>
              <a:buClr>
                <a:schemeClr val="tx1">
                  <a:lumMod val="95000"/>
                  <a:lumOff val="5000"/>
                </a:schemeClr>
              </a:buClr>
              <a:buFont typeface="Wingdings" panose="05000000000000000000" pitchFamily="2" charset="2"/>
              <a:buChar char="Ø"/>
            </a:pPr>
            <a:r>
              <a:rPr lang="en-IN" sz="2600" b="1" dirty="0">
                <a:latin typeface="Times New Roman" panose="02020603050405020304" pitchFamily="18" charset="0"/>
                <a:cs typeface="Times New Roman" panose="02020603050405020304" pitchFamily="18" charset="0"/>
              </a:rPr>
              <a:t>Branch-wise revenue share</a:t>
            </a:r>
          </a:p>
          <a:p>
            <a:pPr>
              <a:buClr>
                <a:schemeClr val="tx1">
                  <a:lumMod val="95000"/>
                  <a:lumOff val="5000"/>
                </a:schemeClr>
              </a:buClr>
              <a:buFont typeface="Wingdings" panose="05000000000000000000" pitchFamily="2" charset="2"/>
              <a:buChar char="Ø"/>
            </a:pPr>
            <a:r>
              <a:rPr lang="en-IN" sz="2600" b="1" dirty="0">
                <a:latin typeface="Times New Roman" panose="02020603050405020304" pitchFamily="18" charset="0"/>
                <a:cs typeface="Times New Roman" panose="02020603050405020304" pitchFamily="18" charset="0"/>
              </a:rPr>
              <a:t>Employee Sales per Head</a:t>
            </a:r>
          </a:p>
          <a:p>
            <a:pPr marL="0" indent="0">
              <a:buNone/>
            </a:pPr>
            <a:endParaRPr lang="en-IN" b="1" dirty="0">
              <a:latin typeface="Times New Roman" panose="02020603050405020304" pitchFamily="18" charset="0"/>
              <a:cs typeface="Times New Roman" panose="02020603050405020304" pitchFamily="18" charset="0"/>
            </a:endParaRPr>
          </a:p>
          <a:p>
            <a:pPr marL="0" indent="0">
              <a:buNone/>
            </a:pPr>
            <a:r>
              <a:rPr lang="en-IN" sz="3000" b="1" dirty="0">
                <a:latin typeface="Times New Roman" panose="02020603050405020304" pitchFamily="18" charset="0"/>
                <a:cs typeface="Times New Roman" panose="02020603050405020304" pitchFamily="18" charset="0"/>
              </a:rPr>
              <a:t>Negative KPIs</a:t>
            </a:r>
          </a:p>
          <a:p>
            <a:pPr>
              <a:buClrTx/>
              <a:buFont typeface="Wingdings" panose="05000000000000000000" pitchFamily="2" charset="2"/>
              <a:buChar char="Ø"/>
            </a:pPr>
            <a:r>
              <a:rPr lang="en-IN" sz="2600" b="1" dirty="0">
                <a:latin typeface="Times New Roman" panose="02020603050405020304" pitchFamily="18" charset="0"/>
                <a:cs typeface="Times New Roman" panose="02020603050405020304" pitchFamily="18" charset="0"/>
              </a:rPr>
              <a:t>Stockouts</a:t>
            </a:r>
          </a:p>
          <a:p>
            <a:pPr>
              <a:buClrTx/>
              <a:buFont typeface="Wingdings" panose="05000000000000000000" pitchFamily="2" charset="2"/>
              <a:buChar char="Ø"/>
            </a:pPr>
            <a:r>
              <a:rPr lang="en-IN" sz="2600" b="1" dirty="0">
                <a:latin typeface="Times New Roman" panose="02020603050405020304" pitchFamily="18" charset="0"/>
                <a:cs typeface="Times New Roman" panose="02020603050405020304" pitchFamily="18" charset="0"/>
              </a:rPr>
              <a:t>Discount Leakage</a:t>
            </a:r>
          </a:p>
          <a:p>
            <a:pPr>
              <a:buClrTx/>
              <a:buFont typeface="Wingdings" panose="05000000000000000000" pitchFamily="2" charset="2"/>
              <a:buChar char="Ø"/>
            </a:pPr>
            <a:r>
              <a:rPr lang="en-IN" sz="2600" b="1" dirty="0">
                <a:latin typeface="Times New Roman" panose="02020603050405020304" pitchFamily="18" charset="0"/>
                <a:cs typeface="Times New Roman" panose="02020603050405020304" pitchFamily="18" charset="0"/>
              </a:rPr>
              <a:t>Customer Churn</a:t>
            </a:r>
            <a:endParaRPr lang="en-IN" sz="2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30777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D0018-499B-5431-D927-CADADA02EA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D36BC8-B096-74EB-C4B5-C01FF5B01823}"/>
              </a:ext>
            </a:extLst>
          </p:cNvPr>
          <p:cNvSpPr>
            <a:spLocks noGrp="1"/>
          </p:cNvSpPr>
          <p:nvPr>
            <p:ph type="title"/>
          </p:nvPr>
        </p:nvSpPr>
        <p:spPr/>
        <p:txBody>
          <a:bodyPr/>
          <a:lstStyle/>
          <a:p>
            <a:pPr algn="just"/>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F928174C-08FE-ED97-440F-132E446C8BFC}"/>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Fact_Sales</a:t>
            </a:r>
            <a:endParaRPr lang="en-IN" sz="20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1B7C9183-CC52-7A87-9A28-B05217F0A0F5}"/>
              </a:ext>
            </a:extLst>
          </p:cNvPr>
          <p:cNvPicPr>
            <a:picLocks noChangeAspect="1"/>
          </p:cNvPicPr>
          <p:nvPr/>
        </p:nvPicPr>
        <p:blipFill>
          <a:blip r:embed="rId2"/>
          <a:stretch>
            <a:fillRect/>
          </a:stretch>
        </p:blipFill>
        <p:spPr>
          <a:xfrm>
            <a:off x="1058237" y="2234063"/>
            <a:ext cx="9623461" cy="3499482"/>
          </a:xfrm>
          <a:prstGeom prst="rect">
            <a:avLst/>
          </a:prstGeom>
        </p:spPr>
      </p:pic>
    </p:spTree>
    <p:extLst>
      <p:ext uri="{BB962C8B-B14F-4D97-AF65-F5344CB8AC3E}">
        <p14:creationId xmlns:p14="http://schemas.microsoft.com/office/powerpoint/2010/main" val="25448616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B34C51-9671-D1FA-A886-34443402469A}"/>
              </a:ext>
            </a:extLst>
          </p:cNvPr>
          <p:cNvSpPr>
            <a:spLocks noGrp="1"/>
          </p:cNvSpPr>
          <p:nvPr>
            <p:ph type="title"/>
          </p:nvPr>
        </p:nvSpPr>
        <p:spPr/>
        <p:txBody>
          <a:bodyPr/>
          <a:lstStyle/>
          <a:p>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3AA1496A-2574-51F2-0B89-A2140AA833FC}"/>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Dim_Date</a:t>
            </a:r>
            <a:r>
              <a:rPr lang="en-US" sz="2000" dirty="0">
                <a:latin typeface="Times New Roman" panose="02020603050405020304" pitchFamily="18" charset="0"/>
                <a:cs typeface="Times New Roman" panose="02020603050405020304" pitchFamily="18" charset="0"/>
              </a:rPr>
              <a:t> Table</a:t>
            </a:r>
            <a:endParaRPr lang="en-IN" sz="20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468FBC70-8CA8-FED4-EA96-E54ED807F94F}"/>
              </a:ext>
            </a:extLst>
          </p:cNvPr>
          <p:cNvPicPr>
            <a:picLocks noChangeAspect="1"/>
          </p:cNvPicPr>
          <p:nvPr/>
        </p:nvPicPr>
        <p:blipFill>
          <a:blip r:embed="rId2"/>
          <a:stretch>
            <a:fillRect/>
          </a:stretch>
        </p:blipFill>
        <p:spPr>
          <a:xfrm>
            <a:off x="1638391" y="2386920"/>
            <a:ext cx="7887801" cy="3848637"/>
          </a:xfrm>
          <a:prstGeom prst="rect">
            <a:avLst/>
          </a:prstGeom>
        </p:spPr>
      </p:pic>
      <p:pic>
        <p:nvPicPr>
          <p:cNvPr id="9" name="Picture 8">
            <a:extLst>
              <a:ext uri="{FF2B5EF4-FFF2-40B4-BE49-F238E27FC236}">
                <a16:creationId xmlns:a16="http://schemas.microsoft.com/office/drawing/2014/main" id="{3BC5E130-6608-4739-BBCB-A6C16AB19EB1}"/>
              </a:ext>
            </a:extLst>
          </p:cNvPr>
          <p:cNvPicPr>
            <a:picLocks noChangeAspect="1"/>
          </p:cNvPicPr>
          <p:nvPr/>
        </p:nvPicPr>
        <p:blipFill>
          <a:blip r:embed="rId3"/>
          <a:stretch>
            <a:fillRect/>
          </a:stretch>
        </p:blipFill>
        <p:spPr>
          <a:xfrm>
            <a:off x="1619339" y="2079508"/>
            <a:ext cx="7906853" cy="304843"/>
          </a:xfrm>
          <a:prstGeom prst="rect">
            <a:avLst/>
          </a:prstGeom>
        </p:spPr>
      </p:pic>
    </p:spTree>
    <p:extLst>
      <p:ext uri="{BB962C8B-B14F-4D97-AF65-F5344CB8AC3E}">
        <p14:creationId xmlns:p14="http://schemas.microsoft.com/office/powerpoint/2010/main" val="25767260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D33EF-7DD5-D9FA-C8A2-D54035E075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D389E1-DF92-3E3B-097E-96AF482BEB5F}"/>
              </a:ext>
            </a:extLst>
          </p:cNvPr>
          <p:cNvSpPr>
            <a:spLocks noGrp="1"/>
          </p:cNvSpPr>
          <p:nvPr>
            <p:ph type="title"/>
          </p:nvPr>
        </p:nvSpPr>
        <p:spPr/>
        <p:txBody>
          <a:bodyPr/>
          <a:lstStyle/>
          <a:p>
            <a:pPr algn="just"/>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EA590761-10C0-D2A8-F405-CACF47289FA7}"/>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Dim_Product</a:t>
            </a:r>
            <a:r>
              <a:rPr lang="en-US" sz="2000" dirty="0">
                <a:latin typeface="Times New Roman" panose="02020603050405020304" pitchFamily="18" charset="0"/>
                <a:cs typeface="Times New Roman" panose="02020603050405020304" pitchFamily="18" charset="0"/>
              </a:rPr>
              <a:t> Table</a:t>
            </a:r>
            <a:endParaRPr lang="en-IN" sz="20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5DEDDE51-F818-F24C-E45F-CE4657983C29}"/>
              </a:ext>
            </a:extLst>
          </p:cNvPr>
          <p:cNvPicPr>
            <a:picLocks noChangeAspect="1"/>
          </p:cNvPicPr>
          <p:nvPr/>
        </p:nvPicPr>
        <p:blipFill>
          <a:blip r:embed="rId2"/>
          <a:stretch>
            <a:fillRect/>
          </a:stretch>
        </p:blipFill>
        <p:spPr>
          <a:xfrm>
            <a:off x="1900719" y="2163271"/>
            <a:ext cx="7911102" cy="3497790"/>
          </a:xfrm>
          <a:prstGeom prst="rect">
            <a:avLst/>
          </a:prstGeom>
        </p:spPr>
      </p:pic>
    </p:spTree>
    <p:extLst>
      <p:ext uri="{BB962C8B-B14F-4D97-AF65-F5344CB8AC3E}">
        <p14:creationId xmlns:p14="http://schemas.microsoft.com/office/powerpoint/2010/main" val="26843941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DA37E-5611-C35E-F8E5-BA359FA04A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65AE25-3619-DEA0-CAF2-F5838D0135F6}"/>
              </a:ext>
            </a:extLst>
          </p:cNvPr>
          <p:cNvSpPr>
            <a:spLocks noGrp="1"/>
          </p:cNvSpPr>
          <p:nvPr>
            <p:ph type="title"/>
          </p:nvPr>
        </p:nvSpPr>
        <p:spPr/>
        <p:txBody>
          <a:bodyPr/>
          <a:lstStyle/>
          <a:p>
            <a:pPr algn="just"/>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1EB6A063-4821-0CB8-138F-5E105F1D8465}"/>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Dim_Supplier</a:t>
            </a:r>
            <a:r>
              <a:rPr lang="en-US" sz="2000" dirty="0">
                <a:latin typeface="Times New Roman" panose="02020603050405020304" pitchFamily="18" charset="0"/>
                <a:cs typeface="Times New Roman" panose="02020603050405020304" pitchFamily="18" charset="0"/>
              </a:rPr>
              <a:t> Table</a:t>
            </a:r>
            <a:endParaRPr lang="en-IN" sz="20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93E71A51-04E3-30FE-E12F-1EF41CA3643A}"/>
              </a:ext>
            </a:extLst>
          </p:cNvPr>
          <p:cNvPicPr>
            <a:picLocks noChangeAspect="1"/>
          </p:cNvPicPr>
          <p:nvPr/>
        </p:nvPicPr>
        <p:blipFill>
          <a:blip r:embed="rId2"/>
          <a:stretch>
            <a:fillRect/>
          </a:stretch>
        </p:blipFill>
        <p:spPr>
          <a:xfrm>
            <a:off x="893093" y="2227644"/>
            <a:ext cx="9905048" cy="3165623"/>
          </a:xfrm>
          <a:prstGeom prst="rect">
            <a:avLst/>
          </a:prstGeom>
        </p:spPr>
      </p:pic>
    </p:spTree>
    <p:extLst>
      <p:ext uri="{BB962C8B-B14F-4D97-AF65-F5344CB8AC3E}">
        <p14:creationId xmlns:p14="http://schemas.microsoft.com/office/powerpoint/2010/main" val="42670152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CEE04-426D-EDA3-3D35-1C2FF7A0EE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7C374-7FF2-594A-9AAA-02C0CDBB14AA}"/>
              </a:ext>
            </a:extLst>
          </p:cNvPr>
          <p:cNvSpPr>
            <a:spLocks noGrp="1"/>
          </p:cNvSpPr>
          <p:nvPr>
            <p:ph type="title"/>
          </p:nvPr>
        </p:nvSpPr>
        <p:spPr/>
        <p:txBody>
          <a:bodyPr/>
          <a:lstStyle/>
          <a:p>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65DA5A35-3149-AE24-6390-F4A5B54FC6E1}"/>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Dim_Customer</a:t>
            </a:r>
            <a:r>
              <a:rPr lang="en-US" sz="2000" dirty="0">
                <a:latin typeface="Times New Roman" panose="02020603050405020304" pitchFamily="18" charset="0"/>
                <a:cs typeface="Times New Roman" panose="02020603050405020304" pitchFamily="18" charset="0"/>
              </a:rPr>
              <a:t> Table</a:t>
            </a:r>
            <a:endParaRPr lang="en-IN" sz="2000" dirty="0">
              <a:latin typeface="Times New Roman" panose="02020603050405020304" pitchFamily="18" charset="0"/>
              <a:cs typeface="Times New Roman" panose="02020603050405020304" pitchFamily="18" charset="0"/>
            </a:endParaRPr>
          </a:p>
        </p:txBody>
      </p:sp>
      <p:pic>
        <p:nvPicPr>
          <p:cNvPr id="7" name="Content Placeholder 6">
            <a:extLst>
              <a:ext uri="{FF2B5EF4-FFF2-40B4-BE49-F238E27FC236}">
                <a16:creationId xmlns:a16="http://schemas.microsoft.com/office/drawing/2014/main" id="{995DCE4C-1383-1C14-D482-A939F90E1EB2}"/>
              </a:ext>
            </a:extLst>
          </p:cNvPr>
          <p:cNvPicPr>
            <a:picLocks noGrp="1" noChangeAspect="1"/>
          </p:cNvPicPr>
          <p:nvPr>
            <p:ph idx="1"/>
          </p:nvPr>
        </p:nvPicPr>
        <p:blipFill>
          <a:blip r:embed="rId2"/>
          <a:stretch>
            <a:fillRect/>
          </a:stretch>
        </p:blipFill>
        <p:spPr>
          <a:xfrm>
            <a:off x="1284038" y="2094736"/>
            <a:ext cx="8596312" cy="3417240"/>
          </a:xfrm>
          <a:prstGeom prst="rect">
            <a:avLst/>
          </a:prstGeom>
        </p:spPr>
      </p:pic>
    </p:spTree>
    <p:extLst>
      <p:ext uri="{BB962C8B-B14F-4D97-AF65-F5344CB8AC3E}">
        <p14:creationId xmlns:p14="http://schemas.microsoft.com/office/powerpoint/2010/main" val="1898183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68867-08F3-A6F2-A1C3-FFA831716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554FFB-2592-87CD-3A2F-5DD22F753BD7}"/>
              </a:ext>
            </a:extLst>
          </p:cNvPr>
          <p:cNvSpPr>
            <a:spLocks noGrp="1"/>
          </p:cNvSpPr>
          <p:nvPr>
            <p:ph type="title"/>
          </p:nvPr>
        </p:nvSpPr>
        <p:spPr/>
        <p:txBody>
          <a:bodyPr/>
          <a:lstStyle/>
          <a:p>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C7C4B57-5456-566A-473F-6B099D0A3FD0}"/>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Dim_Employee</a:t>
            </a:r>
            <a:r>
              <a:rPr lang="en-US" sz="2000" dirty="0">
                <a:latin typeface="Times New Roman" panose="02020603050405020304" pitchFamily="18" charset="0"/>
                <a:cs typeface="Times New Roman" panose="02020603050405020304" pitchFamily="18" charset="0"/>
              </a:rPr>
              <a:t> Table</a:t>
            </a:r>
            <a:endParaRPr lang="en-IN" sz="2000" dirty="0">
              <a:latin typeface="Times New Roman" panose="02020603050405020304" pitchFamily="18" charset="0"/>
              <a:cs typeface="Times New Roman" panose="02020603050405020304" pitchFamily="18" charset="0"/>
            </a:endParaRPr>
          </a:p>
        </p:txBody>
      </p:sp>
      <p:pic>
        <p:nvPicPr>
          <p:cNvPr id="12" name="Picture 11">
            <a:extLst>
              <a:ext uri="{FF2B5EF4-FFF2-40B4-BE49-F238E27FC236}">
                <a16:creationId xmlns:a16="http://schemas.microsoft.com/office/drawing/2014/main" id="{24B23740-371A-4EAB-9C7E-34D70C15D6CD}"/>
              </a:ext>
            </a:extLst>
          </p:cNvPr>
          <p:cNvPicPr>
            <a:picLocks noChangeAspect="1"/>
          </p:cNvPicPr>
          <p:nvPr/>
        </p:nvPicPr>
        <p:blipFill>
          <a:blip r:embed="rId2"/>
          <a:stretch>
            <a:fillRect/>
          </a:stretch>
        </p:blipFill>
        <p:spPr>
          <a:xfrm>
            <a:off x="772162" y="1930400"/>
            <a:ext cx="10031225" cy="4383557"/>
          </a:xfrm>
          <a:prstGeom prst="rect">
            <a:avLst/>
          </a:prstGeom>
        </p:spPr>
      </p:pic>
    </p:spTree>
    <p:extLst>
      <p:ext uri="{BB962C8B-B14F-4D97-AF65-F5344CB8AC3E}">
        <p14:creationId xmlns:p14="http://schemas.microsoft.com/office/powerpoint/2010/main" val="2609617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7B9BD-9BFA-E947-F1C7-FD2161BD7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3E4D96-CAB9-C6BC-4B99-445C75A10476}"/>
              </a:ext>
            </a:extLst>
          </p:cNvPr>
          <p:cNvSpPr>
            <a:spLocks noGrp="1"/>
          </p:cNvSpPr>
          <p:nvPr>
            <p:ph type="title"/>
          </p:nvPr>
        </p:nvSpPr>
        <p:spPr/>
        <p:txBody>
          <a:bodyPr/>
          <a:lstStyle/>
          <a:p>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D9CC2B1F-024C-567F-9239-E218E21890C0}"/>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Dim_Store</a:t>
            </a:r>
            <a:r>
              <a:rPr lang="en-US" sz="2000" dirty="0">
                <a:latin typeface="Times New Roman" panose="02020603050405020304" pitchFamily="18" charset="0"/>
                <a:cs typeface="Times New Roman" panose="02020603050405020304" pitchFamily="18" charset="0"/>
              </a:rPr>
              <a:t> Table</a:t>
            </a:r>
            <a:endParaRPr lang="en-IN" sz="2000" dirty="0">
              <a:latin typeface="Times New Roman" panose="02020603050405020304" pitchFamily="18" charset="0"/>
              <a:cs typeface="Times New Roman" panose="02020603050405020304" pitchFamily="18" charset="0"/>
            </a:endParaRPr>
          </a:p>
        </p:txBody>
      </p:sp>
      <p:pic>
        <p:nvPicPr>
          <p:cNvPr id="7" name="Content Placeholder 6">
            <a:extLst>
              <a:ext uri="{FF2B5EF4-FFF2-40B4-BE49-F238E27FC236}">
                <a16:creationId xmlns:a16="http://schemas.microsoft.com/office/drawing/2014/main" id="{258997C8-F2DF-C09F-E3E4-FBB8943FFDD7}"/>
              </a:ext>
            </a:extLst>
          </p:cNvPr>
          <p:cNvPicPr>
            <a:picLocks noGrp="1" noChangeAspect="1"/>
          </p:cNvPicPr>
          <p:nvPr>
            <p:ph idx="1"/>
          </p:nvPr>
        </p:nvPicPr>
        <p:blipFill>
          <a:blip r:embed="rId2"/>
          <a:stretch>
            <a:fillRect/>
          </a:stretch>
        </p:blipFill>
        <p:spPr>
          <a:xfrm>
            <a:off x="1335408" y="2719976"/>
            <a:ext cx="8596312" cy="2713190"/>
          </a:xfrm>
          <a:prstGeom prst="rect">
            <a:avLst/>
          </a:prstGeom>
        </p:spPr>
      </p:pic>
    </p:spTree>
    <p:extLst>
      <p:ext uri="{BB962C8B-B14F-4D97-AF65-F5344CB8AC3E}">
        <p14:creationId xmlns:p14="http://schemas.microsoft.com/office/powerpoint/2010/main" val="25891040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E9DE7-5D00-5C0E-0341-F9FD7B7A13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E510CE-FD49-B9A3-0DDE-EB04BA8BD981}"/>
              </a:ext>
            </a:extLst>
          </p:cNvPr>
          <p:cNvSpPr>
            <a:spLocks noGrp="1"/>
          </p:cNvSpPr>
          <p:nvPr>
            <p:ph type="title"/>
          </p:nvPr>
        </p:nvSpPr>
        <p:spPr/>
        <p:txBody>
          <a:bodyPr/>
          <a:lstStyle/>
          <a:p>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768EF2E5-D081-08EB-A255-AB101520C29D}"/>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Dim_Branch</a:t>
            </a:r>
            <a:r>
              <a:rPr lang="en-US" sz="2000" dirty="0">
                <a:latin typeface="Times New Roman" panose="02020603050405020304" pitchFamily="18" charset="0"/>
                <a:cs typeface="Times New Roman" panose="02020603050405020304" pitchFamily="18" charset="0"/>
              </a:rPr>
              <a:t> Table</a:t>
            </a:r>
            <a:endParaRPr lang="en-IN" sz="2000" dirty="0">
              <a:latin typeface="Times New Roman" panose="02020603050405020304" pitchFamily="18" charset="0"/>
              <a:cs typeface="Times New Roman" panose="02020603050405020304" pitchFamily="18" charset="0"/>
            </a:endParaRPr>
          </a:p>
        </p:txBody>
      </p:sp>
      <p:pic>
        <p:nvPicPr>
          <p:cNvPr id="7" name="Content Placeholder 6">
            <a:extLst>
              <a:ext uri="{FF2B5EF4-FFF2-40B4-BE49-F238E27FC236}">
                <a16:creationId xmlns:a16="http://schemas.microsoft.com/office/drawing/2014/main" id="{1E9AA8C6-D4BF-E4E6-6213-399413A409D9}"/>
              </a:ext>
            </a:extLst>
          </p:cNvPr>
          <p:cNvPicPr>
            <a:picLocks noGrp="1" noChangeAspect="1"/>
          </p:cNvPicPr>
          <p:nvPr>
            <p:ph idx="1"/>
          </p:nvPr>
        </p:nvPicPr>
        <p:blipFill>
          <a:blip r:embed="rId2"/>
          <a:stretch>
            <a:fillRect/>
          </a:stretch>
        </p:blipFill>
        <p:spPr>
          <a:xfrm>
            <a:off x="1499796" y="2494165"/>
            <a:ext cx="8596312" cy="2016190"/>
          </a:xfrm>
          <a:prstGeom prst="rect">
            <a:avLst/>
          </a:prstGeom>
        </p:spPr>
      </p:pic>
    </p:spTree>
    <p:extLst>
      <p:ext uri="{BB962C8B-B14F-4D97-AF65-F5344CB8AC3E}">
        <p14:creationId xmlns:p14="http://schemas.microsoft.com/office/powerpoint/2010/main" val="4190939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6A32B-AA68-682C-AEA7-913B1C001A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66F0F-92BF-54B6-9EF3-A700D40A30D3}"/>
              </a:ext>
            </a:extLst>
          </p:cNvPr>
          <p:cNvSpPr>
            <a:spLocks noGrp="1"/>
          </p:cNvSpPr>
          <p:nvPr>
            <p:ph type="title"/>
          </p:nvPr>
        </p:nvSpPr>
        <p:spPr/>
        <p:txBody>
          <a:bodyPr/>
          <a:lstStyle/>
          <a:p>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4CEF2D42-7127-639E-7C19-7DB175142D9E}"/>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Dim_Promotion</a:t>
            </a:r>
            <a:r>
              <a:rPr lang="en-US" sz="2000" dirty="0">
                <a:latin typeface="Times New Roman" panose="02020603050405020304" pitchFamily="18" charset="0"/>
                <a:cs typeface="Times New Roman" panose="02020603050405020304" pitchFamily="18" charset="0"/>
              </a:rPr>
              <a:t> Table</a:t>
            </a:r>
            <a:endParaRPr lang="en-IN" sz="2000" dirty="0">
              <a:latin typeface="Times New Roman" panose="02020603050405020304" pitchFamily="18" charset="0"/>
              <a:cs typeface="Times New Roman" panose="02020603050405020304" pitchFamily="18" charset="0"/>
            </a:endParaRPr>
          </a:p>
        </p:txBody>
      </p:sp>
      <p:pic>
        <p:nvPicPr>
          <p:cNvPr id="7" name="Content Placeholder 6">
            <a:extLst>
              <a:ext uri="{FF2B5EF4-FFF2-40B4-BE49-F238E27FC236}">
                <a16:creationId xmlns:a16="http://schemas.microsoft.com/office/drawing/2014/main" id="{AF1BF393-D41F-AD85-24CB-D960403AFAD5}"/>
              </a:ext>
            </a:extLst>
          </p:cNvPr>
          <p:cNvPicPr>
            <a:picLocks noGrp="1" noChangeAspect="1"/>
          </p:cNvPicPr>
          <p:nvPr>
            <p:ph idx="1"/>
          </p:nvPr>
        </p:nvPicPr>
        <p:blipFill>
          <a:blip r:embed="rId2"/>
          <a:stretch>
            <a:fillRect/>
          </a:stretch>
        </p:blipFill>
        <p:spPr>
          <a:xfrm>
            <a:off x="1611406" y="2563161"/>
            <a:ext cx="8249801" cy="2562583"/>
          </a:xfrm>
          <a:prstGeom prst="rect">
            <a:avLst/>
          </a:prstGeom>
        </p:spPr>
      </p:pic>
    </p:spTree>
    <p:extLst>
      <p:ext uri="{BB962C8B-B14F-4D97-AF65-F5344CB8AC3E}">
        <p14:creationId xmlns:p14="http://schemas.microsoft.com/office/powerpoint/2010/main" val="14012340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2E26E-6C71-A5F4-42E8-49AC057143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2AAEA3-5CCB-870D-2813-ED27B559AACC}"/>
              </a:ext>
            </a:extLst>
          </p:cNvPr>
          <p:cNvSpPr>
            <a:spLocks noGrp="1"/>
          </p:cNvSpPr>
          <p:nvPr>
            <p:ph type="title"/>
          </p:nvPr>
        </p:nvSpPr>
        <p:spPr/>
        <p:txBody>
          <a:bodyPr/>
          <a:lstStyle/>
          <a:p>
            <a:r>
              <a:rPr lang="en-US" b="1" dirty="0">
                <a:solidFill>
                  <a:schemeClr val="tx1"/>
                </a:solidFill>
                <a:latin typeface="Times New Roman" panose="02020603050405020304" pitchFamily="18" charset="0"/>
                <a:cs typeface="Times New Roman" panose="02020603050405020304" pitchFamily="18" charset="0"/>
              </a:rPr>
              <a:t>                              Dataset</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62763E17-CFE6-8624-B371-9EC8B6F491C8}"/>
              </a:ext>
            </a:extLst>
          </p:cNvPr>
          <p:cNvSpPr txBox="1"/>
          <p:nvPr/>
        </p:nvSpPr>
        <p:spPr>
          <a:xfrm>
            <a:off x="3386667" y="1464733"/>
            <a:ext cx="3716866" cy="400110"/>
          </a:xfrm>
          <a:prstGeom prst="rect">
            <a:avLst/>
          </a:prstGeom>
          <a:noFill/>
        </p:spPr>
        <p:txBody>
          <a:bodyPr wrap="square" rtlCol="0">
            <a:spAutoFit/>
          </a:bodyPr>
          <a:lstStyle/>
          <a:p>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Dim_Inventory</a:t>
            </a:r>
            <a:r>
              <a:rPr lang="en-US" sz="2000" dirty="0">
                <a:latin typeface="Times New Roman" panose="02020603050405020304" pitchFamily="18" charset="0"/>
                <a:cs typeface="Times New Roman" panose="02020603050405020304" pitchFamily="18" charset="0"/>
              </a:rPr>
              <a:t> Table</a:t>
            </a:r>
            <a:endParaRPr lang="en-IN" sz="2000" dirty="0">
              <a:latin typeface="Times New Roman" panose="02020603050405020304" pitchFamily="18" charset="0"/>
              <a:cs typeface="Times New Roman" panose="02020603050405020304" pitchFamily="18" charset="0"/>
            </a:endParaRPr>
          </a:p>
        </p:txBody>
      </p:sp>
      <p:pic>
        <p:nvPicPr>
          <p:cNvPr id="7" name="Content Placeholder 6">
            <a:extLst>
              <a:ext uri="{FF2B5EF4-FFF2-40B4-BE49-F238E27FC236}">
                <a16:creationId xmlns:a16="http://schemas.microsoft.com/office/drawing/2014/main" id="{7FFC331E-9D31-AFB4-73AC-ACEDC5AB98CE}"/>
              </a:ext>
            </a:extLst>
          </p:cNvPr>
          <p:cNvPicPr>
            <a:picLocks noGrp="1" noChangeAspect="1"/>
          </p:cNvPicPr>
          <p:nvPr>
            <p:ph idx="1"/>
          </p:nvPr>
        </p:nvPicPr>
        <p:blipFill>
          <a:blip r:embed="rId2"/>
          <a:stretch>
            <a:fillRect/>
          </a:stretch>
        </p:blipFill>
        <p:spPr>
          <a:xfrm>
            <a:off x="1314860" y="2186552"/>
            <a:ext cx="8596312" cy="3295252"/>
          </a:xfrm>
          <a:prstGeom prst="rect">
            <a:avLst/>
          </a:prstGeom>
        </p:spPr>
      </p:pic>
    </p:spTree>
    <p:extLst>
      <p:ext uri="{BB962C8B-B14F-4D97-AF65-F5344CB8AC3E}">
        <p14:creationId xmlns:p14="http://schemas.microsoft.com/office/powerpoint/2010/main" val="19533724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40CC8D-59A4-E289-B568-FAC8683AD8F9}"/>
              </a:ext>
            </a:extLst>
          </p:cNvPr>
          <p:cNvSpPr>
            <a:spLocks noGrp="1"/>
          </p:cNvSpPr>
          <p:nvPr>
            <p:ph type="title"/>
          </p:nvPr>
        </p:nvSpPr>
        <p:spPr/>
        <p:txBody>
          <a:bodyPr/>
          <a:lstStyle/>
          <a:p>
            <a:endParaRPr lang="en-IN"/>
          </a:p>
        </p:txBody>
      </p:sp>
      <p:pic>
        <p:nvPicPr>
          <p:cNvPr id="7" name="Content Placeholder 6">
            <a:extLst>
              <a:ext uri="{FF2B5EF4-FFF2-40B4-BE49-F238E27FC236}">
                <a16:creationId xmlns:a16="http://schemas.microsoft.com/office/drawing/2014/main" id="{142092B4-461D-7419-E0C8-DEAC925F36C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bwMode="auto">
          <a:xfrm>
            <a:off x="0" y="0"/>
            <a:ext cx="12191999"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565014"/>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1036</TotalTime>
  <Words>363</Words>
  <Application>Microsoft Office PowerPoint</Application>
  <PresentationFormat>Widescreen</PresentationFormat>
  <Paragraphs>84</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Times New Roman</vt:lpstr>
      <vt:lpstr>Trebuchet MS</vt:lpstr>
      <vt:lpstr>Wingdings</vt:lpstr>
      <vt:lpstr>Wingdings 3</vt:lpstr>
      <vt:lpstr>Facet</vt:lpstr>
      <vt:lpstr>SMART  RETAIL ANALYTICS FOR FASHION SALES</vt:lpstr>
      <vt:lpstr>TABLE OF CONTENTS</vt:lpstr>
      <vt:lpstr>               Problem Statement</vt:lpstr>
      <vt:lpstr>                            Functional Diagram</vt:lpstr>
      <vt:lpstr>              TOOLS AND TECHNOLOGIES</vt:lpstr>
      <vt:lpstr>                 Technical Diagram</vt:lpstr>
      <vt:lpstr>                </vt:lpstr>
      <vt:lpstr>                </vt:lpstr>
      <vt:lpstr>                </vt:lpstr>
      <vt:lpstr>                </vt:lpstr>
      <vt:lpstr>                           Schema Modelling</vt:lpstr>
      <vt:lpstr>                Key Performance Indicators</vt:lpstr>
      <vt:lpstr>                                 Dataset</vt:lpstr>
      <vt:lpstr>                              Dataset</vt:lpstr>
      <vt:lpstr>                              Dataset</vt:lpstr>
      <vt:lpstr>                              Dataset</vt:lpstr>
      <vt:lpstr>                              Dataset</vt:lpstr>
      <vt:lpstr>                              Dataset</vt:lpstr>
      <vt:lpstr>                              Dataset</vt:lpstr>
      <vt:lpstr>                              Dataset</vt:lpstr>
      <vt:lpstr>                              Dataset</vt:lpstr>
      <vt:lpstr>                              Dataset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Hemala Ramesh Babu</dc:creator>
  <cp:lastModifiedBy>Hemala R</cp:lastModifiedBy>
  <cp:revision>12</cp:revision>
  <cp:lastPrinted>2026-01-26T17:13:51Z</cp:lastPrinted>
  <dcterms:created xsi:type="dcterms:W3CDTF">2026-01-26T14:46:04Z</dcterms:created>
  <dcterms:modified xsi:type="dcterms:W3CDTF">2026-02-03T11:00:33Z</dcterms:modified>
</cp:coreProperties>
</file>