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9" r:id="rId4"/>
    <p:sldId id="258" r:id="rId5"/>
    <p:sldId id="260" r:id="rId6"/>
    <p:sldId id="273" r:id="rId7"/>
    <p:sldId id="261" r:id="rId8"/>
    <p:sldId id="262" r:id="rId9"/>
    <p:sldId id="264" r:id="rId10"/>
    <p:sldId id="263" r:id="rId11"/>
    <p:sldId id="265" r:id="rId12"/>
    <p:sldId id="266" r:id="rId13"/>
    <p:sldId id="267" r:id="rId14"/>
    <p:sldId id="268" r:id="rId15"/>
    <p:sldId id="269" r:id="rId16"/>
    <p:sldId id="270" r:id="rId17"/>
    <p:sldId id="271" r:id="rId18"/>
    <p:sldId id="272"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324"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235177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2577181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560262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F37364F-89AB-4B95-98E5-867F7745783F}"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4289828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F37364F-89AB-4B95-98E5-867F7745783F}" type="datetimeFigureOut">
              <a:rPr lang="en-IN" smtClean="0"/>
              <a:t>30-01-2026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016950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F37364F-89AB-4B95-98E5-867F7745783F}" type="datetimeFigureOut">
              <a:rPr lang="en-IN" smtClean="0"/>
              <a:t>30-01-2026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4213140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37364F-89AB-4B95-98E5-867F7745783F}" type="datetimeFigureOut">
              <a:rPr lang="en-IN" smtClean="0"/>
              <a:t>30-01-2026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880013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F37364F-89AB-4B95-98E5-867F7745783F}"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891260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607C43-322F-4057-90ED-C5CDC991D160}" type="slidenum">
              <a:rPr lang="en-IN" smtClean="0"/>
              <a:t>‹#›</a:t>
            </a:fld>
            <a:endParaRPr lang="en-IN"/>
          </a:p>
        </p:txBody>
      </p:sp>
      <p:sp>
        <p:nvSpPr>
          <p:cNvPr id="5" name="Date Placeholder 4"/>
          <p:cNvSpPr>
            <a:spLocks noGrp="1"/>
          </p:cNvSpPr>
          <p:nvPr>
            <p:ph type="dt" sz="half" idx="10"/>
          </p:nvPr>
        </p:nvSpPr>
        <p:spPr/>
        <p:txBody>
          <a:bodyPr/>
          <a:lstStyle/>
          <a:p>
            <a:fld id="{DF37364F-89AB-4B95-98E5-867F7745783F}" type="datetimeFigureOut">
              <a:rPr lang="en-IN" smtClean="0"/>
              <a:t>30-01-2026</a:t>
            </a:fld>
            <a:endParaRPr lang="en-IN"/>
          </a:p>
        </p:txBody>
      </p:sp>
    </p:spTree>
    <p:extLst>
      <p:ext uri="{BB962C8B-B14F-4D97-AF65-F5344CB8AC3E}">
        <p14:creationId xmlns:p14="http://schemas.microsoft.com/office/powerpoint/2010/main" val="2713889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2369373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0923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356526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50516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967194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300706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F37364F-89AB-4B95-98E5-867F7745783F}"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07C43-322F-4057-90ED-C5CDC991D160}" type="slidenum">
              <a:rPr lang="en-IN" smtClean="0"/>
              <a:t>‹#›</a:t>
            </a:fld>
            <a:endParaRPr lang="en-IN"/>
          </a:p>
        </p:txBody>
      </p:sp>
    </p:spTree>
    <p:extLst>
      <p:ext uri="{BB962C8B-B14F-4D97-AF65-F5344CB8AC3E}">
        <p14:creationId xmlns:p14="http://schemas.microsoft.com/office/powerpoint/2010/main" val="169114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F37364F-89AB-4B95-98E5-867F7745783F}" type="datetimeFigureOut">
              <a:rPr lang="en-IN" smtClean="0"/>
              <a:t>30-01-2026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D607C43-322F-4057-90ED-C5CDC991D160}" type="slidenum">
              <a:rPr lang="en-IN" smtClean="0"/>
              <a:t>‹#›</a:t>
            </a:fld>
            <a:endParaRPr lang="en-IN"/>
          </a:p>
        </p:txBody>
      </p:sp>
    </p:spTree>
    <p:extLst>
      <p:ext uri="{BB962C8B-B14F-4D97-AF65-F5344CB8AC3E}">
        <p14:creationId xmlns:p14="http://schemas.microsoft.com/office/powerpoint/2010/main" val="270265506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web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C35B-F174-27A8-6A1B-366D4C3B0584}"/>
              </a:ext>
            </a:extLst>
          </p:cNvPr>
          <p:cNvSpPr>
            <a:spLocks noGrp="1"/>
          </p:cNvSpPr>
          <p:nvPr>
            <p:ph type="ctrTitle"/>
          </p:nvPr>
        </p:nvSpPr>
        <p:spPr>
          <a:xfrm>
            <a:off x="647272" y="2085654"/>
            <a:ext cx="9585789" cy="1684962"/>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SMART  RETAIL ANALYTICS FOR FASHION SALES</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C093D00-FD33-DADD-E976-B8293960179F}"/>
              </a:ext>
            </a:extLst>
          </p:cNvPr>
          <p:cNvSpPr txBox="1"/>
          <p:nvPr/>
        </p:nvSpPr>
        <p:spPr>
          <a:xfrm>
            <a:off x="5917915" y="5229546"/>
            <a:ext cx="5198724"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HEMALA RAMESH BABU</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484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CC64F-386F-3543-EFB9-58DBABEE4C39}"/>
              </a:ext>
            </a:extLst>
          </p:cNvPr>
          <p:cNvSpPr>
            <a:spLocks noGrp="1"/>
          </p:cNvSpPr>
          <p:nvPr>
            <p:ph type="title"/>
          </p:nvPr>
        </p:nvSpPr>
        <p:spPr>
          <a:xfrm>
            <a:off x="0" y="630148"/>
            <a:ext cx="9432437" cy="1320800"/>
          </a:xfrm>
        </p:spPr>
        <p:txBody>
          <a:bodyPr>
            <a:normAutofit/>
          </a:bodyPr>
          <a:lstStyle/>
          <a:p>
            <a:pPr algn="ctr"/>
            <a:r>
              <a:rPr lang="en-US" sz="4000" b="1" dirty="0">
                <a:solidFill>
                  <a:schemeClr val="tx1"/>
                </a:solidFill>
              </a:rPr>
              <a:t>               </a:t>
            </a:r>
            <a:r>
              <a:rPr lang="en-US" sz="4000" b="1" dirty="0">
                <a:solidFill>
                  <a:schemeClr val="tx1"/>
                </a:solidFill>
                <a:latin typeface="Times New Roman" panose="02020603050405020304" pitchFamily="18" charset="0"/>
                <a:cs typeface="Times New Roman" panose="02020603050405020304" pitchFamily="18" charset="0"/>
              </a:rPr>
              <a:t>Problem Statement</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D0EE11-5EB7-8A21-E237-C39C9D9B820E}"/>
              </a:ext>
            </a:extLst>
          </p:cNvPr>
          <p:cNvSpPr>
            <a:spLocks noGrp="1"/>
          </p:cNvSpPr>
          <p:nvPr>
            <p:ph idx="1"/>
          </p:nvPr>
        </p:nvSpPr>
        <p:spPr>
          <a:xfrm>
            <a:off x="677334" y="1613043"/>
            <a:ext cx="10264644" cy="4428319"/>
          </a:xfrm>
        </p:spPr>
        <p:txBody>
          <a:bodyPr>
            <a:normAutofit lnSpcReduction="10000"/>
          </a:bodyPr>
          <a:lstStyle/>
          <a:p>
            <a:pPr>
              <a:lnSpc>
                <a:spcPct val="150000"/>
              </a:lnSpc>
            </a:pPr>
            <a:r>
              <a:rPr lang="en-US" sz="2400" dirty="0">
                <a:latin typeface="Times New Roman" panose="02020603050405020304" pitchFamily="18" charset="0"/>
                <a:cs typeface="Times New Roman" panose="02020603050405020304" pitchFamily="18" charset="0"/>
              </a:rPr>
              <a:t>A fashion retail shop lacks online presence and relies solely on a basic POS system for daily sales. Manual tracking leads to inventory stockouts, poor sales trend insights, and missed opportunities in customer preferences for seasonal apparel, resulting in revenue loss and inefficient operations.</a:t>
            </a:r>
          </a:p>
          <a:p>
            <a:pPr>
              <a:lnSpc>
                <a:spcPct val="150000"/>
              </a:lnSpc>
            </a:pPr>
            <a:r>
              <a:rPr lang="en-US" sz="2400" dirty="0">
                <a:latin typeface="Times New Roman" panose="02020603050405020304" pitchFamily="18" charset="0"/>
                <a:cs typeface="Times New Roman" panose="02020603050405020304" pitchFamily="18" charset="0"/>
              </a:rPr>
              <a:t>The project aims to digitize POS data into a scalable analytics system for predictive insights on fashion sales patterns, real-time inventory optimization, employee performance tracking, and customer segmentation through an intuitive Power BI dashboard.</a:t>
            </a:r>
          </a:p>
          <a:p>
            <a:endParaRPr lang="en-IN" dirty="0"/>
          </a:p>
        </p:txBody>
      </p:sp>
    </p:spTree>
    <p:extLst>
      <p:ext uri="{BB962C8B-B14F-4D97-AF65-F5344CB8AC3E}">
        <p14:creationId xmlns:p14="http://schemas.microsoft.com/office/powerpoint/2010/main" val="3112919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7104-D710-CC56-57B6-C8AE08C4A572}"/>
              </a:ext>
            </a:extLst>
          </p:cNvPr>
          <p:cNvSpPr>
            <a:spLocks noGrp="1"/>
          </p:cNvSpPr>
          <p:nvPr>
            <p:ph type="title"/>
          </p:nvPr>
        </p:nvSpPr>
        <p:spPr>
          <a:xfrm>
            <a:off x="677334" y="609600"/>
            <a:ext cx="8596668" cy="538281"/>
          </a:xfrm>
        </p:spPr>
        <p:txBody>
          <a:bodyPr>
            <a:normAutofit fontScale="90000"/>
          </a:bodyPr>
          <a:lstStyle/>
          <a:p>
            <a:r>
              <a:rPr lang="en-US" sz="4000" b="1" dirty="0">
                <a:solidFill>
                  <a:schemeClr val="tx1"/>
                </a:solidFill>
                <a:latin typeface="Times New Roman" panose="02020603050405020304" pitchFamily="18" charset="0"/>
                <a:cs typeface="Times New Roman" panose="02020603050405020304" pitchFamily="18" charset="0"/>
              </a:rPr>
              <a:t>                            Functional Diagram</a:t>
            </a:r>
            <a:endParaRPr lang="en-IN" sz="4000" b="1"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BB1CBCE-B8E6-B100-670D-95C96EE9DD8B}"/>
              </a:ext>
            </a:extLst>
          </p:cNvPr>
          <p:cNvPicPr>
            <a:picLocks noGrp="1" noChangeAspect="1"/>
          </p:cNvPicPr>
          <p:nvPr>
            <p:ph idx="1"/>
          </p:nvPr>
        </p:nvPicPr>
        <p:blipFill>
          <a:blip r:embed="rId2"/>
          <a:stretch>
            <a:fillRect/>
          </a:stretch>
        </p:blipFill>
        <p:spPr>
          <a:xfrm>
            <a:off x="267553" y="1109365"/>
            <a:ext cx="2193505" cy="1752845"/>
          </a:xfrm>
          <a:prstGeom prst="rect">
            <a:avLst/>
          </a:prstGeom>
        </p:spPr>
      </p:pic>
      <p:pic>
        <p:nvPicPr>
          <p:cNvPr id="7" name="Picture 6">
            <a:extLst>
              <a:ext uri="{FF2B5EF4-FFF2-40B4-BE49-F238E27FC236}">
                <a16:creationId xmlns:a16="http://schemas.microsoft.com/office/drawing/2014/main" id="{32C5C3F2-23AC-5C9C-C53A-21F7EC7ACA19}"/>
              </a:ext>
            </a:extLst>
          </p:cNvPr>
          <p:cNvPicPr>
            <a:picLocks noChangeAspect="1"/>
          </p:cNvPicPr>
          <p:nvPr/>
        </p:nvPicPr>
        <p:blipFill>
          <a:blip r:embed="rId3"/>
          <a:stretch>
            <a:fillRect/>
          </a:stretch>
        </p:blipFill>
        <p:spPr>
          <a:xfrm>
            <a:off x="2652758" y="2423998"/>
            <a:ext cx="1552792" cy="1752845"/>
          </a:xfrm>
          <a:prstGeom prst="rect">
            <a:avLst/>
          </a:prstGeom>
        </p:spPr>
      </p:pic>
      <p:pic>
        <p:nvPicPr>
          <p:cNvPr id="9" name="Picture 8">
            <a:extLst>
              <a:ext uri="{FF2B5EF4-FFF2-40B4-BE49-F238E27FC236}">
                <a16:creationId xmlns:a16="http://schemas.microsoft.com/office/drawing/2014/main" id="{4E7D6AEF-F68B-0344-2DE9-D34F91DDC5C3}"/>
              </a:ext>
            </a:extLst>
          </p:cNvPr>
          <p:cNvPicPr>
            <a:picLocks noChangeAspect="1"/>
          </p:cNvPicPr>
          <p:nvPr/>
        </p:nvPicPr>
        <p:blipFill>
          <a:blip r:embed="rId4"/>
          <a:stretch>
            <a:fillRect/>
          </a:stretch>
        </p:blipFill>
        <p:spPr>
          <a:xfrm>
            <a:off x="4722723" y="2444271"/>
            <a:ext cx="1994631" cy="1707033"/>
          </a:xfrm>
          <a:prstGeom prst="rect">
            <a:avLst/>
          </a:prstGeom>
        </p:spPr>
      </p:pic>
      <p:pic>
        <p:nvPicPr>
          <p:cNvPr id="11" name="Picture 10">
            <a:extLst>
              <a:ext uri="{FF2B5EF4-FFF2-40B4-BE49-F238E27FC236}">
                <a16:creationId xmlns:a16="http://schemas.microsoft.com/office/drawing/2014/main" id="{8CD9E5DB-73E1-41B9-4A23-73542AAFEA25}"/>
              </a:ext>
            </a:extLst>
          </p:cNvPr>
          <p:cNvPicPr>
            <a:picLocks noChangeAspect="1"/>
          </p:cNvPicPr>
          <p:nvPr/>
        </p:nvPicPr>
        <p:blipFill>
          <a:blip r:embed="rId5"/>
          <a:stretch>
            <a:fillRect/>
          </a:stretch>
        </p:blipFill>
        <p:spPr>
          <a:xfrm>
            <a:off x="7233069" y="2396102"/>
            <a:ext cx="2061633" cy="1752842"/>
          </a:xfrm>
          <a:prstGeom prst="rect">
            <a:avLst/>
          </a:prstGeom>
        </p:spPr>
      </p:pic>
      <p:pic>
        <p:nvPicPr>
          <p:cNvPr id="13" name="Picture 12">
            <a:extLst>
              <a:ext uri="{FF2B5EF4-FFF2-40B4-BE49-F238E27FC236}">
                <a16:creationId xmlns:a16="http://schemas.microsoft.com/office/drawing/2014/main" id="{24349F27-43D6-4756-9F69-E55CC4D206F1}"/>
              </a:ext>
            </a:extLst>
          </p:cNvPr>
          <p:cNvPicPr>
            <a:picLocks noChangeAspect="1"/>
          </p:cNvPicPr>
          <p:nvPr/>
        </p:nvPicPr>
        <p:blipFill>
          <a:blip r:embed="rId6"/>
          <a:stretch>
            <a:fillRect/>
          </a:stretch>
        </p:blipFill>
        <p:spPr>
          <a:xfrm>
            <a:off x="9810418" y="2396102"/>
            <a:ext cx="2343369" cy="1863459"/>
          </a:xfrm>
          <a:prstGeom prst="rect">
            <a:avLst/>
          </a:prstGeom>
        </p:spPr>
      </p:pic>
      <p:cxnSp>
        <p:nvCxnSpPr>
          <p:cNvPr id="15" name="Straight Arrow Connector 14">
            <a:extLst>
              <a:ext uri="{FF2B5EF4-FFF2-40B4-BE49-F238E27FC236}">
                <a16:creationId xmlns:a16="http://schemas.microsoft.com/office/drawing/2014/main" id="{9E32777F-855A-EF98-CE55-D0F61DC86907}"/>
              </a:ext>
            </a:extLst>
          </p:cNvPr>
          <p:cNvCxnSpPr>
            <a:cxnSpLocks/>
          </p:cNvCxnSpPr>
          <p:nvPr/>
        </p:nvCxnSpPr>
        <p:spPr>
          <a:xfrm>
            <a:off x="4170874" y="3309548"/>
            <a:ext cx="730967" cy="8205"/>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16AFDAF1-6BED-B87E-38B2-1224A2A497B7}"/>
              </a:ext>
            </a:extLst>
          </p:cNvPr>
          <p:cNvCxnSpPr>
            <a:cxnSpLocks/>
            <a:stCxn id="9" idx="3"/>
          </p:cNvCxnSpPr>
          <p:nvPr/>
        </p:nvCxnSpPr>
        <p:spPr>
          <a:xfrm>
            <a:off x="6717354" y="3297788"/>
            <a:ext cx="697169" cy="229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D4DDB6E-0B3D-44D7-CFFD-5DAB03458855}"/>
              </a:ext>
            </a:extLst>
          </p:cNvPr>
          <p:cNvCxnSpPr>
            <a:cxnSpLocks/>
          </p:cNvCxnSpPr>
          <p:nvPr/>
        </p:nvCxnSpPr>
        <p:spPr>
          <a:xfrm>
            <a:off x="9348039" y="3272523"/>
            <a:ext cx="63304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658A607-458F-6CBA-B33A-B2B1849FAE8E}"/>
              </a:ext>
            </a:extLst>
          </p:cNvPr>
          <p:cNvSpPr txBox="1"/>
          <p:nvPr/>
        </p:nvSpPr>
        <p:spPr>
          <a:xfrm>
            <a:off x="1660264" y="4312161"/>
            <a:ext cx="3062459"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     Collect Offline </a:t>
            </a:r>
          </a:p>
          <a:p>
            <a:pPr algn="ctr"/>
            <a:r>
              <a:rPr lang="en-US" b="1" dirty="0">
                <a:latin typeface="Times New Roman" panose="02020603050405020304" pitchFamily="18" charset="0"/>
                <a:cs typeface="Times New Roman" panose="02020603050405020304" pitchFamily="18" charset="0"/>
              </a:rPr>
              <a:t>    Data Daily</a:t>
            </a:r>
            <a:endParaRPr lang="en-IN" b="1"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78E66747-8CF0-9E3D-8927-05380B17F4CF}"/>
              </a:ext>
            </a:extLst>
          </p:cNvPr>
          <p:cNvSpPr txBox="1"/>
          <p:nvPr/>
        </p:nvSpPr>
        <p:spPr>
          <a:xfrm>
            <a:off x="4688047" y="4334311"/>
            <a:ext cx="2133993"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Process and Analyze Data</a:t>
            </a:r>
            <a:endParaRPr lang="en-IN" b="1"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FE4F41A3-8A11-010E-8D77-5586ABB1C541}"/>
              </a:ext>
            </a:extLst>
          </p:cNvPr>
          <p:cNvSpPr txBox="1"/>
          <p:nvPr/>
        </p:nvSpPr>
        <p:spPr>
          <a:xfrm>
            <a:off x="7414523" y="4288144"/>
            <a:ext cx="225004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KPIs &amp; Insights</a:t>
            </a:r>
            <a:endParaRPr lang="en-IN" b="1"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AEB19E0E-4A4E-9BD5-F3C0-920F5675BABC}"/>
              </a:ext>
            </a:extLst>
          </p:cNvPr>
          <p:cNvSpPr txBox="1"/>
          <p:nvPr/>
        </p:nvSpPr>
        <p:spPr>
          <a:xfrm>
            <a:off x="10078948" y="4334312"/>
            <a:ext cx="1726059"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Data Driven Decisions</a:t>
            </a:r>
            <a:endParaRPr lang="en-IN" b="1" dirty="0">
              <a:latin typeface="Times New Roman" panose="02020603050405020304" pitchFamily="18" charset="0"/>
              <a:cs typeface="Times New Roman" panose="02020603050405020304" pitchFamily="18" charset="0"/>
            </a:endParaRPr>
          </a:p>
        </p:txBody>
      </p:sp>
      <p:cxnSp>
        <p:nvCxnSpPr>
          <p:cNvPr id="34" name="Straight Connector 33">
            <a:extLst>
              <a:ext uri="{FF2B5EF4-FFF2-40B4-BE49-F238E27FC236}">
                <a16:creationId xmlns:a16="http://schemas.microsoft.com/office/drawing/2014/main" id="{FBAA8B16-03D3-031E-0CBB-FB52DD5E5B99}"/>
              </a:ext>
            </a:extLst>
          </p:cNvPr>
          <p:cNvCxnSpPr>
            <a:cxnSpLocks/>
            <a:stCxn id="5" idx="2"/>
          </p:cNvCxnSpPr>
          <p:nvPr/>
        </p:nvCxnSpPr>
        <p:spPr>
          <a:xfrm>
            <a:off x="1364306" y="2862210"/>
            <a:ext cx="0" cy="4210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70AFAC6-F2C4-3FC2-B1EC-64FD4833DEF1}"/>
              </a:ext>
            </a:extLst>
          </p:cNvPr>
          <p:cNvCxnSpPr>
            <a:cxnSpLocks/>
            <a:endCxn id="7" idx="1"/>
          </p:cNvCxnSpPr>
          <p:nvPr/>
        </p:nvCxnSpPr>
        <p:spPr>
          <a:xfrm>
            <a:off x="1364306" y="3300421"/>
            <a:ext cx="128845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90102315-05C3-6234-168F-672217A3A0AF}"/>
              </a:ext>
            </a:extLst>
          </p:cNvPr>
          <p:cNvSpPr txBox="1"/>
          <p:nvPr/>
        </p:nvSpPr>
        <p:spPr>
          <a:xfrm>
            <a:off x="503434" y="3626778"/>
            <a:ext cx="163214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Offline Store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243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79925-35CF-6FEE-3565-31A823EBAA0A}"/>
              </a:ext>
            </a:extLst>
          </p:cNvPr>
          <p:cNvSpPr>
            <a:spLocks noGrp="1"/>
          </p:cNvSpPr>
          <p:nvPr>
            <p:ph type="title"/>
          </p:nvPr>
        </p:nvSpPr>
        <p:spPr/>
        <p:txBody>
          <a:bodyPr>
            <a:norm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              TOOLS AND TECHNOLOGIES</a:t>
            </a:r>
            <a:endParaRPr lang="en-IN" sz="32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4186FE29-B193-74A3-A6D2-C2E981B3781C}"/>
              </a:ext>
            </a:extLst>
          </p:cNvPr>
          <p:cNvGraphicFramePr>
            <a:graphicFrameLocks noGrp="1"/>
          </p:cNvGraphicFramePr>
          <p:nvPr>
            <p:ph idx="1"/>
            <p:extLst>
              <p:ext uri="{D42A27DB-BD31-4B8C-83A1-F6EECF244321}">
                <p14:modId xmlns:p14="http://schemas.microsoft.com/office/powerpoint/2010/main" val="1652600066"/>
              </p:ext>
            </p:extLst>
          </p:nvPr>
        </p:nvGraphicFramePr>
        <p:xfrm>
          <a:off x="2024009" y="1582220"/>
          <a:ext cx="7746716" cy="4350965"/>
        </p:xfrm>
        <a:graphic>
          <a:graphicData uri="http://schemas.openxmlformats.org/drawingml/2006/table">
            <a:tbl>
              <a:tblPr>
                <a:tableStyleId>{5940675A-B579-460E-94D1-54222C63F5DA}</a:tableStyleId>
              </a:tblPr>
              <a:tblGrid>
                <a:gridCol w="3873358">
                  <a:extLst>
                    <a:ext uri="{9D8B030D-6E8A-4147-A177-3AD203B41FA5}">
                      <a16:colId xmlns:a16="http://schemas.microsoft.com/office/drawing/2014/main" val="4150679531"/>
                    </a:ext>
                  </a:extLst>
                </a:gridCol>
                <a:gridCol w="3873358">
                  <a:extLst>
                    <a:ext uri="{9D8B030D-6E8A-4147-A177-3AD203B41FA5}">
                      <a16:colId xmlns:a16="http://schemas.microsoft.com/office/drawing/2014/main" val="4202163923"/>
                    </a:ext>
                  </a:extLst>
                </a:gridCol>
              </a:tblGrid>
              <a:tr h="449042">
                <a:tc>
                  <a:txBody>
                    <a:bodyPr/>
                    <a:lstStyle/>
                    <a:p>
                      <a:pPr algn="ctr">
                        <a:buNone/>
                      </a:pPr>
                      <a:r>
                        <a:rPr lang="en-IN" sz="2400" b="1" dirty="0">
                          <a:effectLst/>
                          <a:latin typeface="Times New Roman" panose="02020603050405020304" pitchFamily="18" charset="0"/>
                          <a:cs typeface="Times New Roman" panose="02020603050405020304" pitchFamily="18" charset="0"/>
                        </a:rPr>
                        <a:t>Phase</a:t>
                      </a:r>
                      <a:endParaRPr lang="en-IN" sz="2400" dirty="0">
                        <a:effectLst/>
                        <a:latin typeface="Times New Roman" panose="02020603050405020304" pitchFamily="18" charset="0"/>
                        <a:cs typeface="Times New Roman" panose="02020603050405020304" pitchFamily="18" charset="0"/>
                      </a:endParaRPr>
                    </a:p>
                  </a:txBody>
                  <a:tcPr marL="50800" marR="50800" marT="50800" marB="50800" anchor="ctr">
                    <a:solidFill>
                      <a:schemeClr val="accent1">
                        <a:lumMod val="40000"/>
                        <a:lumOff val="60000"/>
                      </a:schemeClr>
                    </a:solidFill>
                  </a:tcPr>
                </a:tc>
                <a:tc>
                  <a:txBody>
                    <a:bodyPr/>
                    <a:lstStyle/>
                    <a:p>
                      <a:pPr algn="ctr">
                        <a:buNone/>
                      </a:pPr>
                      <a:r>
                        <a:rPr lang="en-IN" sz="2400" b="1" dirty="0">
                          <a:effectLst/>
                          <a:latin typeface="Times New Roman" panose="02020603050405020304" pitchFamily="18" charset="0"/>
                          <a:cs typeface="Times New Roman" panose="02020603050405020304" pitchFamily="18" charset="0"/>
                        </a:rPr>
                        <a:t>Azure Tool</a:t>
                      </a:r>
                      <a:endParaRPr lang="en-IN" sz="2400" dirty="0">
                        <a:effectLst/>
                        <a:latin typeface="Times New Roman" panose="02020603050405020304" pitchFamily="18" charset="0"/>
                        <a:cs typeface="Times New Roman" panose="02020603050405020304" pitchFamily="18" charset="0"/>
                      </a:endParaRPr>
                    </a:p>
                  </a:txBody>
                  <a:tcPr marL="50800" marR="50800" marT="50800" marB="50800" anchor="ctr">
                    <a:solidFill>
                      <a:schemeClr val="accent1">
                        <a:lumMod val="40000"/>
                        <a:lumOff val="60000"/>
                      </a:schemeClr>
                    </a:solidFill>
                  </a:tcPr>
                </a:tc>
                <a:extLst>
                  <a:ext uri="{0D108BD9-81ED-4DB2-BD59-A6C34878D82A}">
                    <a16:rowId xmlns:a16="http://schemas.microsoft.com/office/drawing/2014/main" val="1155329413"/>
                  </a:ext>
                </a:extLst>
              </a:tr>
              <a:tr h="776721">
                <a:tc>
                  <a:txBody>
                    <a:bodyPr/>
                    <a:lstStyle/>
                    <a:p>
                      <a:pPr algn="ctr">
                        <a:buNone/>
                      </a:pPr>
                      <a:r>
                        <a:rPr lang="en-IN" sz="2400" b="1">
                          <a:effectLst/>
                          <a:latin typeface="Times New Roman" panose="02020603050405020304" pitchFamily="18" charset="0"/>
                          <a:cs typeface="Times New Roman" panose="02020603050405020304" pitchFamily="18" charset="0"/>
                        </a:rPr>
                        <a:t>Data Ingestion</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buNone/>
                      </a:pPr>
                      <a:r>
                        <a:rPr lang="en-IN" sz="2400" b="1">
                          <a:effectLst/>
                          <a:latin typeface="Times New Roman" panose="02020603050405020304" pitchFamily="18" charset="0"/>
                          <a:cs typeface="Times New Roman" panose="02020603050405020304" pitchFamily="18" charset="0"/>
                        </a:rPr>
                        <a:t>Azure Data Lake Gen2</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111964609"/>
                  </a:ext>
                </a:extLst>
              </a:tr>
              <a:tr h="776721">
                <a:tc>
                  <a:txBody>
                    <a:bodyPr/>
                    <a:lstStyle/>
                    <a:p>
                      <a:pPr algn="ctr">
                        <a:buNone/>
                      </a:pPr>
                      <a:r>
                        <a:rPr lang="en-IN" sz="2400" b="1">
                          <a:effectLst/>
                          <a:latin typeface="Times New Roman" panose="02020603050405020304" pitchFamily="18" charset="0"/>
                          <a:cs typeface="Times New Roman" panose="02020603050405020304" pitchFamily="18" charset="0"/>
                        </a:rPr>
                        <a:t>Orchestration</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buNone/>
                      </a:pPr>
                      <a:r>
                        <a:rPr lang="en-IN" sz="2400" b="1" dirty="0">
                          <a:effectLst/>
                          <a:latin typeface="Times New Roman" panose="02020603050405020304" pitchFamily="18" charset="0"/>
                          <a:cs typeface="Times New Roman" panose="02020603050405020304" pitchFamily="18" charset="0"/>
                        </a:rPr>
                        <a:t>Azure Data Factory</a:t>
                      </a:r>
                      <a:endParaRPr lang="en-IN" sz="2400" dirty="0">
                        <a:effectLst/>
                        <a:latin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451864796"/>
                  </a:ext>
                </a:extLst>
              </a:tr>
              <a:tr h="776721">
                <a:tc>
                  <a:txBody>
                    <a:bodyPr/>
                    <a:lstStyle/>
                    <a:p>
                      <a:pPr algn="ctr">
                        <a:buNone/>
                      </a:pPr>
                      <a:r>
                        <a:rPr lang="en-IN" sz="2400" b="1">
                          <a:effectLst/>
                          <a:latin typeface="Times New Roman" panose="02020603050405020304" pitchFamily="18" charset="0"/>
                          <a:cs typeface="Times New Roman" panose="02020603050405020304" pitchFamily="18" charset="0"/>
                        </a:rPr>
                        <a:t>Data Processing</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buNone/>
                      </a:pPr>
                      <a:r>
                        <a:rPr lang="en-IN" sz="2400" b="1">
                          <a:effectLst/>
                          <a:latin typeface="Times New Roman" panose="02020603050405020304" pitchFamily="18" charset="0"/>
                          <a:cs typeface="Times New Roman" panose="02020603050405020304" pitchFamily="18" charset="0"/>
                        </a:rPr>
                        <a:t>Azure Databricks</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80284422"/>
                  </a:ext>
                </a:extLst>
              </a:tr>
              <a:tr h="776721">
                <a:tc>
                  <a:txBody>
                    <a:bodyPr/>
                    <a:lstStyle/>
                    <a:p>
                      <a:pPr algn="ctr">
                        <a:buNone/>
                      </a:pPr>
                      <a:r>
                        <a:rPr lang="en-IN" sz="2400" b="1">
                          <a:effectLst/>
                          <a:latin typeface="Times New Roman" panose="02020603050405020304" pitchFamily="18" charset="0"/>
                          <a:cs typeface="Times New Roman" panose="02020603050405020304" pitchFamily="18" charset="0"/>
                        </a:rPr>
                        <a:t>Data Warehouse</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buNone/>
                      </a:pPr>
                      <a:r>
                        <a:rPr lang="en-IN" sz="2400" b="1">
                          <a:effectLst/>
                          <a:latin typeface="Times New Roman" panose="02020603050405020304" pitchFamily="18" charset="0"/>
                          <a:cs typeface="Times New Roman" panose="02020603050405020304" pitchFamily="18" charset="0"/>
                        </a:rPr>
                        <a:t>Azure Synapse</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092974959"/>
                  </a:ext>
                </a:extLst>
              </a:tr>
              <a:tr h="776721">
                <a:tc>
                  <a:txBody>
                    <a:bodyPr/>
                    <a:lstStyle/>
                    <a:p>
                      <a:pPr algn="ctr">
                        <a:buNone/>
                      </a:pPr>
                      <a:r>
                        <a:rPr lang="en-IN" sz="2400" b="1">
                          <a:effectLst/>
                          <a:latin typeface="Times New Roman" panose="02020603050405020304" pitchFamily="18" charset="0"/>
                          <a:cs typeface="Times New Roman" panose="02020603050405020304" pitchFamily="18" charset="0"/>
                        </a:rPr>
                        <a:t>Visualization</a:t>
                      </a:r>
                      <a:endParaRPr lang="en-IN" sz="2400">
                        <a:effectLst/>
                        <a:latin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buNone/>
                      </a:pPr>
                      <a:r>
                        <a:rPr lang="en-IN" sz="2400" b="1" dirty="0">
                          <a:effectLst/>
                          <a:latin typeface="Times New Roman" panose="02020603050405020304" pitchFamily="18" charset="0"/>
                          <a:cs typeface="Times New Roman" panose="02020603050405020304" pitchFamily="18" charset="0"/>
                        </a:rPr>
                        <a:t>Power BI</a:t>
                      </a:r>
                      <a:endParaRPr lang="en-IN" sz="2400" dirty="0">
                        <a:effectLst/>
                        <a:latin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956224853"/>
                  </a:ext>
                </a:extLst>
              </a:tr>
            </a:tbl>
          </a:graphicData>
        </a:graphic>
      </p:graphicFrame>
    </p:spTree>
    <p:extLst>
      <p:ext uri="{BB962C8B-B14F-4D97-AF65-F5344CB8AC3E}">
        <p14:creationId xmlns:p14="http://schemas.microsoft.com/office/powerpoint/2010/main" val="613013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2792-7235-D89F-FBAC-FACDA36844E5}"/>
              </a:ext>
            </a:extLst>
          </p:cNvPr>
          <p:cNvSpPr>
            <a:spLocks noGrp="1"/>
          </p:cNvSpPr>
          <p:nvPr>
            <p:ph type="title"/>
          </p:nvPr>
        </p:nvSpPr>
        <p:spPr>
          <a:xfrm>
            <a:off x="857812" y="235734"/>
            <a:ext cx="8596668" cy="132080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                 Technical Diagram</a:t>
            </a: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7219A3D5-647A-7224-0654-0E2E0C885C36}"/>
              </a:ext>
            </a:extLst>
          </p:cNvPr>
          <p:cNvPicPr>
            <a:picLocks noChangeAspect="1"/>
          </p:cNvPicPr>
          <p:nvPr/>
        </p:nvPicPr>
        <p:blipFill>
          <a:blip r:embed="rId2"/>
          <a:stretch>
            <a:fillRect/>
          </a:stretch>
        </p:blipFill>
        <p:spPr>
          <a:xfrm>
            <a:off x="1957790" y="1354650"/>
            <a:ext cx="1769022" cy="3092897"/>
          </a:xfrm>
          <a:prstGeom prst="rect">
            <a:avLst/>
          </a:prstGeom>
        </p:spPr>
      </p:pic>
      <p:pic>
        <p:nvPicPr>
          <p:cNvPr id="17" name="Picture 16">
            <a:extLst>
              <a:ext uri="{FF2B5EF4-FFF2-40B4-BE49-F238E27FC236}">
                <a16:creationId xmlns:a16="http://schemas.microsoft.com/office/drawing/2014/main" id="{A4608280-872F-198D-CBA3-5B99AC381C4B}"/>
              </a:ext>
            </a:extLst>
          </p:cNvPr>
          <p:cNvPicPr>
            <a:picLocks noChangeAspect="1"/>
          </p:cNvPicPr>
          <p:nvPr/>
        </p:nvPicPr>
        <p:blipFill>
          <a:blip r:embed="rId3"/>
          <a:stretch>
            <a:fillRect/>
          </a:stretch>
        </p:blipFill>
        <p:spPr>
          <a:xfrm>
            <a:off x="4082451" y="1355813"/>
            <a:ext cx="1769022" cy="3091737"/>
          </a:xfrm>
          <a:prstGeom prst="rect">
            <a:avLst/>
          </a:prstGeom>
        </p:spPr>
      </p:pic>
      <p:pic>
        <p:nvPicPr>
          <p:cNvPr id="19" name="Picture 18">
            <a:extLst>
              <a:ext uri="{FF2B5EF4-FFF2-40B4-BE49-F238E27FC236}">
                <a16:creationId xmlns:a16="http://schemas.microsoft.com/office/drawing/2014/main" id="{14ABA11A-57C0-269A-21AA-790F49B1C5FA}"/>
              </a:ext>
            </a:extLst>
          </p:cNvPr>
          <p:cNvPicPr>
            <a:picLocks noChangeAspect="1"/>
          </p:cNvPicPr>
          <p:nvPr/>
        </p:nvPicPr>
        <p:blipFill>
          <a:blip r:embed="rId4"/>
          <a:stretch>
            <a:fillRect/>
          </a:stretch>
        </p:blipFill>
        <p:spPr>
          <a:xfrm>
            <a:off x="8225526" y="1354651"/>
            <a:ext cx="1899912" cy="3092898"/>
          </a:xfrm>
          <a:prstGeom prst="rect">
            <a:avLst/>
          </a:prstGeom>
        </p:spPr>
      </p:pic>
      <p:pic>
        <p:nvPicPr>
          <p:cNvPr id="21" name="Picture 20">
            <a:extLst>
              <a:ext uri="{FF2B5EF4-FFF2-40B4-BE49-F238E27FC236}">
                <a16:creationId xmlns:a16="http://schemas.microsoft.com/office/drawing/2014/main" id="{C6ED778A-8F62-E43F-E3E4-0063DABC4590}"/>
              </a:ext>
            </a:extLst>
          </p:cNvPr>
          <p:cNvPicPr>
            <a:picLocks noChangeAspect="1"/>
          </p:cNvPicPr>
          <p:nvPr/>
        </p:nvPicPr>
        <p:blipFill>
          <a:blip r:embed="rId5"/>
          <a:stretch>
            <a:fillRect/>
          </a:stretch>
        </p:blipFill>
        <p:spPr>
          <a:xfrm>
            <a:off x="10430455" y="1354651"/>
            <a:ext cx="1774401" cy="3092898"/>
          </a:xfrm>
          <a:prstGeom prst="rect">
            <a:avLst/>
          </a:prstGeom>
        </p:spPr>
      </p:pic>
      <p:pic>
        <p:nvPicPr>
          <p:cNvPr id="6" name="Picture 5">
            <a:extLst>
              <a:ext uri="{FF2B5EF4-FFF2-40B4-BE49-F238E27FC236}">
                <a16:creationId xmlns:a16="http://schemas.microsoft.com/office/drawing/2014/main" id="{4AFE4FA9-2EC6-1D66-4279-810650E644E6}"/>
              </a:ext>
            </a:extLst>
          </p:cNvPr>
          <p:cNvPicPr>
            <a:picLocks noChangeAspect="1"/>
          </p:cNvPicPr>
          <p:nvPr/>
        </p:nvPicPr>
        <p:blipFill>
          <a:blip r:embed="rId6"/>
          <a:stretch>
            <a:fillRect/>
          </a:stretch>
        </p:blipFill>
        <p:spPr>
          <a:xfrm>
            <a:off x="33076" y="1355813"/>
            <a:ext cx="1569076" cy="3092896"/>
          </a:xfrm>
          <a:prstGeom prst="rect">
            <a:avLst/>
          </a:prstGeom>
        </p:spPr>
      </p:pic>
      <p:pic>
        <p:nvPicPr>
          <p:cNvPr id="14" name="Picture 13">
            <a:extLst>
              <a:ext uri="{FF2B5EF4-FFF2-40B4-BE49-F238E27FC236}">
                <a16:creationId xmlns:a16="http://schemas.microsoft.com/office/drawing/2014/main" id="{157F1ECB-1371-CF22-98C5-F70A24189C06}"/>
              </a:ext>
            </a:extLst>
          </p:cNvPr>
          <p:cNvPicPr>
            <a:picLocks noChangeAspect="1"/>
          </p:cNvPicPr>
          <p:nvPr/>
        </p:nvPicPr>
        <p:blipFill>
          <a:blip r:embed="rId7"/>
          <a:stretch>
            <a:fillRect/>
          </a:stretch>
        </p:blipFill>
        <p:spPr>
          <a:xfrm>
            <a:off x="6181134" y="1354651"/>
            <a:ext cx="1739375" cy="3092897"/>
          </a:xfrm>
          <a:prstGeom prst="rect">
            <a:avLst/>
          </a:prstGeom>
        </p:spPr>
      </p:pic>
      <p:cxnSp>
        <p:nvCxnSpPr>
          <p:cNvPr id="24" name="Straight Arrow Connector 23">
            <a:extLst>
              <a:ext uri="{FF2B5EF4-FFF2-40B4-BE49-F238E27FC236}">
                <a16:creationId xmlns:a16="http://schemas.microsoft.com/office/drawing/2014/main" id="{2830E33E-31DC-BC05-74CF-C730BBDA89D1}"/>
              </a:ext>
            </a:extLst>
          </p:cNvPr>
          <p:cNvCxnSpPr>
            <a:cxnSpLocks/>
          </p:cNvCxnSpPr>
          <p:nvPr/>
        </p:nvCxnSpPr>
        <p:spPr>
          <a:xfrm>
            <a:off x="1488821" y="2366483"/>
            <a:ext cx="576717"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5B575E6-C38E-C66B-F7C3-4EE3EE391EDF}"/>
              </a:ext>
            </a:extLst>
          </p:cNvPr>
          <p:cNvCxnSpPr>
            <a:cxnSpLocks/>
          </p:cNvCxnSpPr>
          <p:nvPr/>
        </p:nvCxnSpPr>
        <p:spPr>
          <a:xfrm>
            <a:off x="3573029" y="2366483"/>
            <a:ext cx="576717"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DFA94E3-7D33-0C32-B10D-33C7A2ACDFA1}"/>
              </a:ext>
            </a:extLst>
          </p:cNvPr>
          <p:cNvCxnSpPr>
            <a:cxnSpLocks/>
          </p:cNvCxnSpPr>
          <p:nvPr/>
        </p:nvCxnSpPr>
        <p:spPr>
          <a:xfrm>
            <a:off x="5813731" y="2366483"/>
            <a:ext cx="576717"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B3304B6-2B8E-D07B-66CE-325B421406E3}"/>
              </a:ext>
            </a:extLst>
          </p:cNvPr>
          <p:cNvCxnSpPr>
            <a:cxnSpLocks/>
          </p:cNvCxnSpPr>
          <p:nvPr/>
        </p:nvCxnSpPr>
        <p:spPr>
          <a:xfrm>
            <a:off x="7802262" y="2390459"/>
            <a:ext cx="576717"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3562FC0-4AD3-2B21-7937-C83694920785}"/>
              </a:ext>
            </a:extLst>
          </p:cNvPr>
          <p:cNvCxnSpPr>
            <a:cxnSpLocks/>
          </p:cNvCxnSpPr>
          <p:nvPr/>
        </p:nvCxnSpPr>
        <p:spPr>
          <a:xfrm>
            <a:off x="10033385" y="2366483"/>
            <a:ext cx="576717"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1574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BC4B-6F0F-57AE-9CC0-53A77CAC3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7A437-235A-F498-D31D-650015EC6D1C}"/>
              </a:ext>
            </a:extLst>
          </p:cNvPr>
          <p:cNvSpPr>
            <a:spLocks noGrp="1"/>
          </p:cNvSpPr>
          <p:nvPr>
            <p:ph type="title"/>
          </p:nvPr>
        </p:nvSpPr>
        <p:spPr>
          <a:xfrm>
            <a:off x="851995" y="301376"/>
            <a:ext cx="8596668" cy="132080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B875A2-9D90-ED18-378B-0C1F1EA3152B}"/>
              </a:ext>
            </a:extLst>
          </p:cNvPr>
          <p:cNvSpPr>
            <a:spLocks noGrp="1"/>
          </p:cNvSpPr>
          <p:nvPr>
            <p:ph idx="1"/>
          </p:nvPr>
        </p:nvSpPr>
        <p:spPr>
          <a:xfrm>
            <a:off x="1089061" y="1369478"/>
            <a:ext cx="10531011" cy="4743646"/>
          </a:xfrm>
        </p:spPr>
        <p:txBody>
          <a:bodyPr>
            <a:normAutofit fontScale="70000" lnSpcReduction="20000"/>
          </a:bodyPr>
          <a:lstStyle/>
          <a:p>
            <a:pPr marL="0" indent="0">
              <a:lnSpc>
                <a:spcPct val="120000"/>
              </a:lnSpc>
              <a:buNone/>
            </a:pPr>
            <a:r>
              <a:rPr lang="en-IN" sz="3100" dirty="0">
                <a:latin typeface="Times New Roman" panose="02020603050405020304" pitchFamily="18" charset="0"/>
                <a:cs typeface="Times New Roman" panose="02020603050405020304" pitchFamily="18" charset="0"/>
              </a:rPr>
              <a:t>The dataset is divided into </a:t>
            </a:r>
            <a:r>
              <a:rPr lang="en-IN" sz="3100" b="1" dirty="0">
                <a:latin typeface="Times New Roman" panose="02020603050405020304" pitchFamily="18" charset="0"/>
                <a:cs typeface="Times New Roman" panose="02020603050405020304" pitchFamily="18" charset="0"/>
              </a:rPr>
              <a:t>one fact table and multiple dimension tables</a:t>
            </a:r>
            <a:r>
              <a:rPr lang="en-IN" sz="3100" dirty="0">
                <a:latin typeface="Times New Roman" panose="02020603050405020304" pitchFamily="18" charset="0"/>
                <a:cs typeface="Times New Roman" panose="02020603050405020304" pitchFamily="18" charset="0"/>
              </a:rPr>
              <a:t>.</a:t>
            </a:r>
          </a:p>
          <a:p>
            <a:pPr>
              <a:lnSpc>
                <a:spcPct val="120000"/>
              </a:lnSpc>
            </a:pPr>
            <a:r>
              <a:rPr lang="en-IN" sz="3100" b="1" dirty="0" err="1">
                <a:latin typeface="Times New Roman" panose="02020603050405020304" pitchFamily="18" charset="0"/>
                <a:cs typeface="Times New Roman" panose="02020603050405020304" pitchFamily="18" charset="0"/>
              </a:rPr>
              <a:t>Fact_Sales</a:t>
            </a:r>
            <a:r>
              <a:rPr lang="en-IN" sz="3100" dirty="0">
                <a:latin typeface="Times New Roman" panose="02020603050405020304" pitchFamily="18" charset="0"/>
                <a:cs typeface="Times New Roman" panose="02020603050405020304" pitchFamily="18" charset="0"/>
              </a:rPr>
              <a:t> → Central transactional table</a:t>
            </a:r>
          </a:p>
          <a:p>
            <a:pPr>
              <a:lnSpc>
                <a:spcPct val="120000"/>
              </a:lnSpc>
            </a:pPr>
            <a:r>
              <a:rPr lang="en-IN" sz="3100" b="1" dirty="0" err="1">
                <a:latin typeface="Times New Roman" panose="02020603050405020304" pitchFamily="18" charset="0"/>
                <a:cs typeface="Times New Roman" panose="02020603050405020304" pitchFamily="18" charset="0"/>
              </a:rPr>
              <a:t>Dim_Date</a:t>
            </a:r>
            <a:r>
              <a:rPr lang="en-IN" sz="3100" dirty="0">
                <a:latin typeface="Times New Roman" panose="02020603050405020304" pitchFamily="18" charset="0"/>
                <a:cs typeface="Times New Roman" panose="02020603050405020304" pitchFamily="18" charset="0"/>
              </a:rPr>
              <a:t> → Time-based analysis</a:t>
            </a:r>
          </a:p>
          <a:p>
            <a:pPr>
              <a:lnSpc>
                <a:spcPct val="120000"/>
              </a:lnSpc>
            </a:pPr>
            <a:r>
              <a:rPr lang="en-IN" sz="3100" b="1" dirty="0" err="1">
                <a:latin typeface="Times New Roman" panose="02020603050405020304" pitchFamily="18" charset="0"/>
                <a:cs typeface="Times New Roman" panose="02020603050405020304" pitchFamily="18" charset="0"/>
              </a:rPr>
              <a:t>Dim_Product</a:t>
            </a:r>
            <a:r>
              <a:rPr lang="en-IN" sz="3100" dirty="0">
                <a:latin typeface="Times New Roman" panose="02020603050405020304" pitchFamily="18" charset="0"/>
                <a:cs typeface="Times New Roman" panose="02020603050405020304" pitchFamily="18" charset="0"/>
              </a:rPr>
              <a:t> → Category, size, </a:t>
            </a:r>
            <a:r>
              <a:rPr lang="en-IN" sz="3100" dirty="0" err="1">
                <a:latin typeface="Times New Roman" panose="02020603050405020304" pitchFamily="18" charset="0"/>
                <a:cs typeface="Times New Roman" panose="02020603050405020304" pitchFamily="18" charset="0"/>
              </a:rPr>
              <a:t>color</a:t>
            </a:r>
            <a:r>
              <a:rPr lang="en-IN" sz="3100" dirty="0">
                <a:latin typeface="Times New Roman" panose="02020603050405020304" pitchFamily="18" charset="0"/>
                <a:cs typeface="Times New Roman" panose="02020603050405020304" pitchFamily="18" charset="0"/>
              </a:rPr>
              <a:t>, brand</a:t>
            </a:r>
          </a:p>
          <a:p>
            <a:pPr>
              <a:lnSpc>
                <a:spcPct val="120000"/>
              </a:lnSpc>
            </a:pPr>
            <a:r>
              <a:rPr lang="en-IN" sz="3100" b="1" dirty="0" err="1">
                <a:latin typeface="Times New Roman" panose="02020603050405020304" pitchFamily="18" charset="0"/>
                <a:cs typeface="Times New Roman" panose="02020603050405020304" pitchFamily="18" charset="0"/>
              </a:rPr>
              <a:t>Dim_Customer</a:t>
            </a:r>
            <a:r>
              <a:rPr lang="en-IN" sz="3100" dirty="0">
                <a:latin typeface="Times New Roman" panose="02020603050405020304" pitchFamily="18" charset="0"/>
                <a:cs typeface="Times New Roman" panose="02020603050405020304" pitchFamily="18" charset="0"/>
              </a:rPr>
              <a:t> → Customer </a:t>
            </a:r>
            <a:r>
              <a:rPr lang="en-IN" sz="3100" dirty="0" err="1">
                <a:latin typeface="Times New Roman" panose="02020603050405020304" pitchFamily="18" charset="0"/>
                <a:cs typeface="Times New Roman" panose="02020603050405020304" pitchFamily="18" charset="0"/>
              </a:rPr>
              <a:t>behavior</a:t>
            </a:r>
            <a:r>
              <a:rPr lang="en-IN" sz="3100" dirty="0">
                <a:latin typeface="Times New Roman" panose="02020603050405020304" pitchFamily="18" charset="0"/>
                <a:cs typeface="Times New Roman" panose="02020603050405020304" pitchFamily="18" charset="0"/>
              </a:rPr>
              <a:t> tracking</a:t>
            </a:r>
          </a:p>
          <a:p>
            <a:pPr>
              <a:lnSpc>
                <a:spcPct val="120000"/>
              </a:lnSpc>
            </a:pPr>
            <a:r>
              <a:rPr lang="en-IN" sz="3100" b="1" dirty="0" err="1">
                <a:latin typeface="Times New Roman" panose="02020603050405020304" pitchFamily="18" charset="0"/>
                <a:cs typeface="Times New Roman" panose="02020603050405020304" pitchFamily="18" charset="0"/>
              </a:rPr>
              <a:t>Dim_Employee</a:t>
            </a:r>
            <a:r>
              <a:rPr lang="en-IN" sz="3100" dirty="0">
                <a:latin typeface="Times New Roman" panose="02020603050405020304" pitchFamily="18" charset="0"/>
                <a:cs typeface="Times New Roman" panose="02020603050405020304" pitchFamily="18" charset="0"/>
              </a:rPr>
              <a:t> → Sales contribution per staff</a:t>
            </a:r>
          </a:p>
          <a:p>
            <a:pPr>
              <a:lnSpc>
                <a:spcPct val="120000"/>
              </a:lnSpc>
            </a:pPr>
            <a:r>
              <a:rPr lang="en-IN" sz="3100" b="1" dirty="0" err="1">
                <a:latin typeface="Times New Roman" panose="02020603050405020304" pitchFamily="18" charset="0"/>
                <a:cs typeface="Times New Roman" panose="02020603050405020304" pitchFamily="18" charset="0"/>
              </a:rPr>
              <a:t>Dim_Store</a:t>
            </a:r>
            <a:r>
              <a:rPr lang="en-IN" sz="3100" b="1" dirty="0">
                <a:latin typeface="Times New Roman" panose="02020603050405020304" pitchFamily="18" charset="0"/>
                <a:cs typeface="Times New Roman" panose="02020603050405020304" pitchFamily="18" charset="0"/>
              </a:rPr>
              <a:t> &amp; </a:t>
            </a:r>
            <a:r>
              <a:rPr lang="en-IN" sz="3100" b="1" dirty="0" err="1">
                <a:latin typeface="Times New Roman" panose="02020603050405020304" pitchFamily="18" charset="0"/>
                <a:cs typeface="Times New Roman" panose="02020603050405020304" pitchFamily="18" charset="0"/>
              </a:rPr>
              <a:t>Dim_Branch</a:t>
            </a:r>
            <a:r>
              <a:rPr lang="en-IN" sz="3100" dirty="0">
                <a:latin typeface="Times New Roman" panose="02020603050405020304" pitchFamily="18" charset="0"/>
                <a:cs typeface="Times New Roman" panose="02020603050405020304" pitchFamily="18" charset="0"/>
              </a:rPr>
              <a:t> → Location-based analysis</a:t>
            </a:r>
          </a:p>
          <a:p>
            <a:pPr>
              <a:lnSpc>
                <a:spcPct val="120000"/>
              </a:lnSpc>
            </a:pPr>
            <a:r>
              <a:rPr lang="en-IN" sz="3100" b="1" dirty="0" err="1">
                <a:latin typeface="Times New Roman" panose="02020603050405020304" pitchFamily="18" charset="0"/>
                <a:cs typeface="Times New Roman" panose="02020603050405020304" pitchFamily="18" charset="0"/>
              </a:rPr>
              <a:t>Dim_Promotion</a:t>
            </a:r>
            <a:r>
              <a:rPr lang="en-IN" sz="3100" dirty="0">
                <a:latin typeface="Times New Roman" panose="02020603050405020304" pitchFamily="18" charset="0"/>
                <a:cs typeface="Times New Roman" panose="02020603050405020304" pitchFamily="18" charset="0"/>
              </a:rPr>
              <a:t> → Discount effectiveness</a:t>
            </a:r>
          </a:p>
          <a:p>
            <a:pPr>
              <a:lnSpc>
                <a:spcPct val="120000"/>
              </a:lnSpc>
            </a:pPr>
            <a:r>
              <a:rPr lang="en-IN" sz="3100" b="1" dirty="0" err="1">
                <a:latin typeface="Times New Roman" panose="02020603050405020304" pitchFamily="18" charset="0"/>
                <a:cs typeface="Times New Roman" panose="02020603050405020304" pitchFamily="18" charset="0"/>
              </a:rPr>
              <a:t>Dim_Inventory</a:t>
            </a:r>
            <a:r>
              <a:rPr lang="en-IN" sz="3100" dirty="0">
                <a:latin typeface="Times New Roman" panose="02020603050405020304" pitchFamily="18" charset="0"/>
                <a:cs typeface="Times New Roman" panose="02020603050405020304" pitchFamily="18" charset="0"/>
              </a:rPr>
              <a:t> → Stock level monitoring</a:t>
            </a:r>
          </a:p>
          <a:p>
            <a:pPr>
              <a:lnSpc>
                <a:spcPct val="120000"/>
              </a:lnSpc>
            </a:pPr>
            <a:r>
              <a:rPr lang="en-IN" sz="3100" b="1" dirty="0" err="1">
                <a:latin typeface="Times New Roman" panose="02020603050405020304" pitchFamily="18" charset="0"/>
                <a:cs typeface="Times New Roman" panose="02020603050405020304" pitchFamily="18" charset="0"/>
              </a:rPr>
              <a:t>Dim_Supplier</a:t>
            </a:r>
            <a:r>
              <a:rPr lang="en-IN" sz="3100" dirty="0">
                <a:latin typeface="Times New Roman" panose="02020603050405020304" pitchFamily="18" charset="0"/>
                <a:cs typeface="Times New Roman" panose="02020603050405020304" pitchFamily="18" charset="0"/>
              </a:rPr>
              <a:t> → Supply chain insights</a:t>
            </a:r>
          </a:p>
          <a:p>
            <a:pPr marL="0" indent="0">
              <a:buNone/>
            </a:pPr>
            <a:endParaRPr lang="en-IN"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FBD1D8E-B808-7954-D35F-6DBF9B684F0D}"/>
              </a:ext>
            </a:extLst>
          </p:cNvPr>
          <p:cNvSpPr txBox="1"/>
          <p:nvPr/>
        </p:nvSpPr>
        <p:spPr>
          <a:xfrm>
            <a:off x="4500080" y="560210"/>
            <a:ext cx="7222733"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DATASET</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290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0188B-2233-E74A-4751-1978C8796FC9}"/>
              </a:ext>
            </a:extLst>
          </p:cNvPr>
          <p:cNvSpPr>
            <a:spLocks noGrp="1"/>
          </p:cNvSpPr>
          <p:nvPr>
            <p:ph type="title"/>
          </p:nvPr>
        </p:nvSpPr>
        <p:spPr>
          <a:xfrm>
            <a:off x="677334" y="609600"/>
            <a:ext cx="9750936"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                           Schema Modelling</a:t>
            </a: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D43F1264-A6C1-DB15-618C-361C30637F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4270" y="1703703"/>
            <a:ext cx="8712485" cy="4346789"/>
          </a:xfrm>
        </p:spPr>
      </p:pic>
    </p:spTree>
    <p:extLst>
      <p:ext uri="{BB962C8B-B14F-4D97-AF65-F5344CB8AC3E}">
        <p14:creationId xmlns:p14="http://schemas.microsoft.com/office/powerpoint/2010/main" val="815895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C3E90-41B9-0FD2-63B3-D34B0F9CCE51}"/>
              </a:ext>
            </a:extLst>
          </p:cNvPr>
          <p:cNvSpPr>
            <a:spLocks noGrp="1"/>
          </p:cNvSpPr>
          <p:nvPr>
            <p:ph type="title"/>
          </p:nvPr>
        </p:nvSpPr>
        <p:spPr>
          <a:xfrm>
            <a:off x="851995" y="301376"/>
            <a:ext cx="8596668" cy="132080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                Key Performance Indicators</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372B3C-1407-FB62-0BC0-C2F0B0D6BF5E}"/>
              </a:ext>
            </a:extLst>
          </p:cNvPr>
          <p:cNvSpPr>
            <a:spLocks noGrp="1"/>
          </p:cNvSpPr>
          <p:nvPr>
            <p:ph idx="1"/>
          </p:nvPr>
        </p:nvSpPr>
        <p:spPr>
          <a:xfrm>
            <a:off x="1089061" y="1369478"/>
            <a:ext cx="10531011" cy="4743646"/>
          </a:xfrm>
        </p:spPr>
        <p:txBody>
          <a:bodyPr>
            <a:normAutofit/>
          </a:bodyPr>
          <a:lstStyle/>
          <a:p>
            <a:pPr marL="0" indent="0">
              <a:buNone/>
            </a:pPr>
            <a:r>
              <a:rPr lang="en-US" sz="3000" b="1" dirty="0">
                <a:latin typeface="Times New Roman" panose="02020603050405020304" pitchFamily="18" charset="0"/>
                <a:cs typeface="Times New Roman" panose="02020603050405020304" pitchFamily="18" charset="0"/>
              </a:rPr>
              <a:t>Positive KPIs</a:t>
            </a:r>
          </a:p>
          <a:p>
            <a:pPr>
              <a:buClr>
                <a:schemeClr val="tx1">
                  <a:lumMod val="95000"/>
                  <a:lumOff val="5000"/>
                </a:schemeClr>
              </a:buClr>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Total Revenue</a:t>
            </a:r>
          </a:p>
          <a:p>
            <a:pPr>
              <a:buClr>
                <a:schemeClr val="tx1">
                  <a:lumMod val="95000"/>
                  <a:lumOff val="5000"/>
                </a:schemeClr>
              </a:buClr>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Branch-wise revenue share</a:t>
            </a:r>
          </a:p>
          <a:p>
            <a:pPr>
              <a:buClr>
                <a:schemeClr val="tx1">
                  <a:lumMod val="95000"/>
                  <a:lumOff val="5000"/>
                </a:schemeClr>
              </a:buClr>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Employee Sales per Head</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sz="3000" b="1" dirty="0">
                <a:latin typeface="Times New Roman" panose="02020603050405020304" pitchFamily="18" charset="0"/>
                <a:cs typeface="Times New Roman" panose="02020603050405020304" pitchFamily="18" charset="0"/>
              </a:rPr>
              <a:t>Negative KPIs</a:t>
            </a:r>
          </a:p>
          <a:p>
            <a:pPr>
              <a:buClrTx/>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Stockouts</a:t>
            </a:r>
          </a:p>
          <a:p>
            <a:pPr>
              <a:buClrTx/>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Discount Leakage</a:t>
            </a:r>
          </a:p>
          <a:p>
            <a:pPr>
              <a:buClrTx/>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Customer Churn</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3077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D0018-499B-5431-D927-CADADA02E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36BC8-B096-74EB-C4B5-C01FF5B01823}"/>
              </a:ext>
            </a:extLst>
          </p:cNvPr>
          <p:cNvSpPr>
            <a:spLocks noGrp="1"/>
          </p:cNvSpPr>
          <p:nvPr>
            <p:ph type="title"/>
          </p:nvPr>
        </p:nvSpPr>
        <p:spPr/>
        <p:txBody>
          <a:bodyPr/>
          <a:lstStyle/>
          <a:p>
            <a:pPr algn="just"/>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928174C-08FE-ED97-440F-132E446C8BFC}"/>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Fact_Sales</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B7C9183-CC52-7A87-9A28-B05217F0A0F5}"/>
              </a:ext>
            </a:extLst>
          </p:cNvPr>
          <p:cNvPicPr>
            <a:picLocks noChangeAspect="1"/>
          </p:cNvPicPr>
          <p:nvPr/>
        </p:nvPicPr>
        <p:blipFill>
          <a:blip r:embed="rId2"/>
          <a:stretch>
            <a:fillRect/>
          </a:stretch>
        </p:blipFill>
        <p:spPr>
          <a:xfrm>
            <a:off x="1058237" y="2234063"/>
            <a:ext cx="9623461" cy="3499482"/>
          </a:xfrm>
          <a:prstGeom prst="rect">
            <a:avLst/>
          </a:prstGeom>
        </p:spPr>
      </p:pic>
    </p:spTree>
    <p:extLst>
      <p:ext uri="{BB962C8B-B14F-4D97-AF65-F5344CB8AC3E}">
        <p14:creationId xmlns:p14="http://schemas.microsoft.com/office/powerpoint/2010/main" val="254486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34C51-9671-D1FA-A886-34443402469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AA1496A-2574-51F2-0B89-A2140AA833FC}"/>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Dim_Date</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68FBC70-8CA8-FED4-EA96-E54ED807F94F}"/>
              </a:ext>
            </a:extLst>
          </p:cNvPr>
          <p:cNvPicPr>
            <a:picLocks noChangeAspect="1"/>
          </p:cNvPicPr>
          <p:nvPr/>
        </p:nvPicPr>
        <p:blipFill>
          <a:blip r:embed="rId2"/>
          <a:stretch>
            <a:fillRect/>
          </a:stretch>
        </p:blipFill>
        <p:spPr>
          <a:xfrm>
            <a:off x="1638391" y="2386920"/>
            <a:ext cx="7887801" cy="3848637"/>
          </a:xfrm>
          <a:prstGeom prst="rect">
            <a:avLst/>
          </a:prstGeom>
        </p:spPr>
      </p:pic>
      <p:pic>
        <p:nvPicPr>
          <p:cNvPr id="9" name="Picture 8">
            <a:extLst>
              <a:ext uri="{FF2B5EF4-FFF2-40B4-BE49-F238E27FC236}">
                <a16:creationId xmlns:a16="http://schemas.microsoft.com/office/drawing/2014/main" id="{3BC5E130-6608-4739-BBCB-A6C16AB19EB1}"/>
              </a:ext>
            </a:extLst>
          </p:cNvPr>
          <p:cNvPicPr>
            <a:picLocks noChangeAspect="1"/>
          </p:cNvPicPr>
          <p:nvPr/>
        </p:nvPicPr>
        <p:blipFill>
          <a:blip r:embed="rId3"/>
          <a:stretch>
            <a:fillRect/>
          </a:stretch>
        </p:blipFill>
        <p:spPr>
          <a:xfrm>
            <a:off x="1619339" y="2079508"/>
            <a:ext cx="7906853" cy="304843"/>
          </a:xfrm>
          <a:prstGeom prst="rect">
            <a:avLst/>
          </a:prstGeom>
        </p:spPr>
      </p:pic>
    </p:spTree>
    <p:extLst>
      <p:ext uri="{BB962C8B-B14F-4D97-AF65-F5344CB8AC3E}">
        <p14:creationId xmlns:p14="http://schemas.microsoft.com/office/powerpoint/2010/main" val="2576726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D33EF-7DD5-D9FA-C8A2-D54035E07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389E1-DF92-3E3B-097E-96AF482BEB5F}"/>
              </a:ext>
            </a:extLst>
          </p:cNvPr>
          <p:cNvSpPr>
            <a:spLocks noGrp="1"/>
          </p:cNvSpPr>
          <p:nvPr>
            <p:ph type="title"/>
          </p:nvPr>
        </p:nvSpPr>
        <p:spPr/>
        <p:txBody>
          <a:bodyPr/>
          <a:lstStyle/>
          <a:p>
            <a:pPr algn="just"/>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A590761-10C0-D2A8-F405-CACF47289FA7}"/>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Dim_Product</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DEDDE51-F818-F24C-E45F-CE4657983C29}"/>
              </a:ext>
            </a:extLst>
          </p:cNvPr>
          <p:cNvPicPr>
            <a:picLocks noChangeAspect="1"/>
          </p:cNvPicPr>
          <p:nvPr/>
        </p:nvPicPr>
        <p:blipFill>
          <a:blip r:embed="rId2"/>
          <a:stretch>
            <a:fillRect/>
          </a:stretch>
        </p:blipFill>
        <p:spPr>
          <a:xfrm>
            <a:off x="1900719" y="2163271"/>
            <a:ext cx="7911102" cy="3497790"/>
          </a:xfrm>
          <a:prstGeom prst="rect">
            <a:avLst/>
          </a:prstGeom>
        </p:spPr>
      </p:pic>
    </p:spTree>
    <p:extLst>
      <p:ext uri="{BB962C8B-B14F-4D97-AF65-F5344CB8AC3E}">
        <p14:creationId xmlns:p14="http://schemas.microsoft.com/office/powerpoint/2010/main" val="2684394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DA37E-5611-C35E-F8E5-BA359FA04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5AE25-3619-DEA0-CAF2-F5838D0135F6}"/>
              </a:ext>
            </a:extLst>
          </p:cNvPr>
          <p:cNvSpPr>
            <a:spLocks noGrp="1"/>
          </p:cNvSpPr>
          <p:nvPr>
            <p:ph type="title"/>
          </p:nvPr>
        </p:nvSpPr>
        <p:spPr/>
        <p:txBody>
          <a:bodyPr/>
          <a:lstStyle/>
          <a:p>
            <a:pPr algn="just"/>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EB6A063-4821-0CB8-138F-5E105F1D8465}"/>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Dim_Supplier</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3E71A51-04E3-30FE-E12F-1EF41CA3643A}"/>
              </a:ext>
            </a:extLst>
          </p:cNvPr>
          <p:cNvPicPr>
            <a:picLocks noChangeAspect="1"/>
          </p:cNvPicPr>
          <p:nvPr/>
        </p:nvPicPr>
        <p:blipFill>
          <a:blip r:embed="rId2"/>
          <a:stretch>
            <a:fillRect/>
          </a:stretch>
        </p:blipFill>
        <p:spPr>
          <a:xfrm>
            <a:off x="893093" y="2227644"/>
            <a:ext cx="9905048" cy="3165623"/>
          </a:xfrm>
          <a:prstGeom prst="rect">
            <a:avLst/>
          </a:prstGeom>
        </p:spPr>
      </p:pic>
    </p:spTree>
    <p:extLst>
      <p:ext uri="{BB962C8B-B14F-4D97-AF65-F5344CB8AC3E}">
        <p14:creationId xmlns:p14="http://schemas.microsoft.com/office/powerpoint/2010/main" val="426701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CEE04-426D-EDA3-3D35-1C2FF7A0E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7C374-7FF2-594A-9AAA-02C0CDBB14A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5DA5A35-3149-AE24-6390-F4A5B54FC6E1}"/>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Dim_Customer</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995DCE4C-1383-1C14-D482-A939F90E1EB2}"/>
              </a:ext>
            </a:extLst>
          </p:cNvPr>
          <p:cNvPicPr>
            <a:picLocks noGrp="1" noChangeAspect="1"/>
          </p:cNvPicPr>
          <p:nvPr>
            <p:ph idx="1"/>
          </p:nvPr>
        </p:nvPicPr>
        <p:blipFill>
          <a:blip r:embed="rId2"/>
          <a:stretch>
            <a:fillRect/>
          </a:stretch>
        </p:blipFill>
        <p:spPr>
          <a:xfrm>
            <a:off x="1284038" y="2094736"/>
            <a:ext cx="8596312" cy="3417240"/>
          </a:xfrm>
          <a:prstGeom prst="rect">
            <a:avLst/>
          </a:prstGeom>
        </p:spPr>
      </p:pic>
    </p:spTree>
    <p:extLst>
      <p:ext uri="{BB962C8B-B14F-4D97-AF65-F5344CB8AC3E}">
        <p14:creationId xmlns:p14="http://schemas.microsoft.com/office/powerpoint/2010/main" val="1898183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68867-08F3-A6F2-A1C3-FFA831716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54FFB-2592-87CD-3A2F-5DD22F753BD7}"/>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C7C4B57-5456-566A-473F-6B099D0A3FD0}"/>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Dim_Employee</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24B23740-371A-4EAB-9C7E-34D70C15D6CD}"/>
              </a:ext>
            </a:extLst>
          </p:cNvPr>
          <p:cNvPicPr>
            <a:picLocks noChangeAspect="1"/>
          </p:cNvPicPr>
          <p:nvPr/>
        </p:nvPicPr>
        <p:blipFill>
          <a:blip r:embed="rId2"/>
          <a:stretch>
            <a:fillRect/>
          </a:stretch>
        </p:blipFill>
        <p:spPr>
          <a:xfrm>
            <a:off x="772162" y="1930400"/>
            <a:ext cx="10031225" cy="4383557"/>
          </a:xfrm>
          <a:prstGeom prst="rect">
            <a:avLst/>
          </a:prstGeom>
        </p:spPr>
      </p:pic>
    </p:spTree>
    <p:extLst>
      <p:ext uri="{BB962C8B-B14F-4D97-AF65-F5344CB8AC3E}">
        <p14:creationId xmlns:p14="http://schemas.microsoft.com/office/powerpoint/2010/main" val="260961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7B9BD-9BFA-E947-F1C7-FD2161BD7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E4D96-CAB9-C6BC-4B99-445C75A1047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9CC2B1F-024C-567F-9239-E218E21890C0}"/>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Dim_Store</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258997C8-F2DF-C09F-E3E4-FBB8943FFDD7}"/>
              </a:ext>
            </a:extLst>
          </p:cNvPr>
          <p:cNvPicPr>
            <a:picLocks noGrp="1" noChangeAspect="1"/>
          </p:cNvPicPr>
          <p:nvPr>
            <p:ph idx="1"/>
          </p:nvPr>
        </p:nvPicPr>
        <p:blipFill>
          <a:blip r:embed="rId2"/>
          <a:stretch>
            <a:fillRect/>
          </a:stretch>
        </p:blipFill>
        <p:spPr>
          <a:xfrm>
            <a:off x="1335408" y="2719976"/>
            <a:ext cx="8596312" cy="2713190"/>
          </a:xfrm>
          <a:prstGeom prst="rect">
            <a:avLst/>
          </a:prstGeom>
        </p:spPr>
      </p:pic>
    </p:spTree>
    <p:extLst>
      <p:ext uri="{BB962C8B-B14F-4D97-AF65-F5344CB8AC3E}">
        <p14:creationId xmlns:p14="http://schemas.microsoft.com/office/powerpoint/2010/main" val="2589104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E9DE7-5D00-5C0E-0341-F9FD7B7A1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510CE-FD49-B9A3-0DDE-EB04BA8BD98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68EF2E5-D081-08EB-A255-AB101520C29D}"/>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Dim_Branch</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1E9AA8C6-D4BF-E4E6-6213-399413A409D9}"/>
              </a:ext>
            </a:extLst>
          </p:cNvPr>
          <p:cNvPicPr>
            <a:picLocks noGrp="1" noChangeAspect="1"/>
          </p:cNvPicPr>
          <p:nvPr>
            <p:ph idx="1"/>
          </p:nvPr>
        </p:nvPicPr>
        <p:blipFill>
          <a:blip r:embed="rId2"/>
          <a:stretch>
            <a:fillRect/>
          </a:stretch>
        </p:blipFill>
        <p:spPr>
          <a:xfrm>
            <a:off x="1499796" y="2494165"/>
            <a:ext cx="8596312" cy="2016190"/>
          </a:xfrm>
          <a:prstGeom prst="rect">
            <a:avLst/>
          </a:prstGeom>
        </p:spPr>
      </p:pic>
    </p:spTree>
    <p:extLst>
      <p:ext uri="{BB962C8B-B14F-4D97-AF65-F5344CB8AC3E}">
        <p14:creationId xmlns:p14="http://schemas.microsoft.com/office/powerpoint/2010/main" val="4190939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6A32B-AA68-682C-AEA7-913B1C001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66F0F-92BF-54B6-9EF3-A700D40A30D3}"/>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CEF2D42-7127-639E-7C19-7DB175142D9E}"/>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Dim_Promotion</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AF1BF393-D41F-AD85-24CB-D960403AFAD5}"/>
              </a:ext>
            </a:extLst>
          </p:cNvPr>
          <p:cNvPicPr>
            <a:picLocks noGrp="1" noChangeAspect="1"/>
          </p:cNvPicPr>
          <p:nvPr>
            <p:ph idx="1"/>
          </p:nvPr>
        </p:nvPicPr>
        <p:blipFill>
          <a:blip r:embed="rId2"/>
          <a:stretch>
            <a:fillRect/>
          </a:stretch>
        </p:blipFill>
        <p:spPr>
          <a:xfrm>
            <a:off x="1611406" y="2563161"/>
            <a:ext cx="8249801" cy="2562583"/>
          </a:xfrm>
          <a:prstGeom prst="rect">
            <a:avLst/>
          </a:prstGeom>
        </p:spPr>
      </p:pic>
    </p:spTree>
    <p:extLst>
      <p:ext uri="{BB962C8B-B14F-4D97-AF65-F5344CB8AC3E}">
        <p14:creationId xmlns:p14="http://schemas.microsoft.com/office/powerpoint/2010/main" val="1401234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2E26E-6C71-A5F4-42E8-49AC05714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AAEA3-5CCB-870D-2813-ED27B559AACC}"/>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                              Dataset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2763E17-CFE6-8624-B371-9EC8B6F491C8}"/>
              </a:ext>
            </a:extLst>
          </p:cNvPr>
          <p:cNvSpPr txBox="1"/>
          <p:nvPr/>
        </p:nvSpPr>
        <p:spPr>
          <a:xfrm>
            <a:off x="3386667" y="1464733"/>
            <a:ext cx="37168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Dim_Inventory</a:t>
            </a:r>
            <a:r>
              <a:rPr lang="en-US" sz="2000" dirty="0">
                <a:latin typeface="Times New Roman" panose="02020603050405020304" pitchFamily="18" charset="0"/>
                <a:cs typeface="Times New Roman" panose="02020603050405020304" pitchFamily="18" charset="0"/>
              </a:rPr>
              <a:t> Table</a:t>
            </a:r>
            <a:endParaRPr lang="en-IN" sz="20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7FFC331E-9D31-AFB4-73AC-ACEDC5AB98CE}"/>
              </a:ext>
            </a:extLst>
          </p:cNvPr>
          <p:cNvPicPr>
            <a:picLocks noGrp="1" noChangeAspect="1"/>
          </p:cNvPicPr>
          <p:nvPr>
            <p:ph idx="1"/>
          </p:nvPr>
        </p:nvPicPr>
        <p:blipFill>
          <a:blip r:embed="rId2"/>
          <a:stretch>
            <a:fillRect/>
          </a:stretch>
        </p:blipFill>
        <p:spPr>
          <a:xfrm>
            <a:off x="1314860" y="2186552"/>
            <a:ext cx="8596312" cy="3295252"/>
          </a:xfrm>
          <a:prstGeom prst="rect">
            <a:avLst/>
          </a:prstGeom>
        </p:spPr>
      </p:pic>
    </p:spTree>
    <p:extLst>
      <p:ext uri="{BB962C8B-B14F-4D97-AF65-F5344CB8AC3E}">
        <p14:creationId xmlns:p14="http://schemas.microsoft.com/office/powerpoint/2010/main" val="1953372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0CC8D-59A4-E289-B568-FAC8683AD8F9}"/>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142092B4-461D-7419-E0C8-DEAC925F36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6501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734</TotalTime>
  <Words>329</Words>
  <Application>Microsoft Office PowerPoint</Application>
  <PresentationFormat>Widescreen</PresentationFormat>
  <Paragraphs>69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Times New Roman</vt:lpstr>
      <vt:lpstr>Trebuchet MS</vt:lpstr>
      <vt:lpstr>Wingdings</vt:lpstr>
      <vt:lpstr>Wingdings 3</vt:lpstr>
      <vt:lpstr>Facet</vt:lpstr>
      <vt:lpstr>SMART  RETAIL ANALYTICS FOR FASHION SALES</vt:lpstr>
      <vt:lpstr>               Problem Statement</vt:lpstr>
      <vt:lpstr>                            Functional Diagram</vt:lpstr>
      <vt:lpstr>              TOOLS AND TECHNOLOGIES</vt:lpstr>
      <vt:lpstr>                 Technical Diagram</vt:lpstr>
      <vt:lpstr>                </vt:lpstr>
      <vt:lpstr>                           Schema Modelling</vt:lpstr>
      <vt:lpstr>                Key Performance Indicators</vt:lpstr>
      <vt:lpstr>                                 Dataset</vt:lpstr>
      <vt:lpstr>                              Dataset</vt:lpstr>
      <vt:lpstr>                              Dataset</vt:lpstr>
      <vt:lpstr>                              Dataset</vt:lpstr>
      <vt:lpstr>                              Dataset</vt:lpstr>
      <vt:lpstr>                              Dataset</vt:lpstr>
      <vt:lpstr>                              Dataset</vt:lpstr>
      <vt:lpstr>                              Dataset</vt:lpstr>
      <vt:lpstr>                              Dataset</vt:lpstr>
      <vt:lpstr>                              Dataset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Hemala Ramesh Babu</dc:creator>
  <cp:lastModifiedBy>Hemala Ramesh Babu</cp:lastModifiedBy>
  <cp:revision>8</cp:revision>
  <cp:lastPrinted>2026-01-26T17:13:51Z</cp:lastPrinted>
  <dcterms:created xsi:type="dcterms:W3CDTF">2026-01-26T14:46:04Z</dcterms:created>
  <dcterms:modified xsi:type="dcterms:W3CDTF">2026-01-30T04:10:50Z</dcterms:modified>
</cp:coreProperties>
</file>