
<file path=[Content_Types].xml><?xml version="1.0" encoding="utf-8"?>
<Types xmlns="http://schemas.openxmlformats.org/package/2006/content-types">
  <Default Extension="bin" ContentType="image/unknown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7" r:id="rId1"/>
  </p:sldMasterIdLst>
  <p:sldIdLst>
    <p:sldId id="256" r:id="rId2"/>
    <p:sldId id="275" r:id="rId3"/>
    <p:sldId id="257" r:id="rId4"/>
    <p:sldId id="279" r:id="rId5"/>
    <p:sldId id="280" r:id="rId6"/>
    <p:sldId id="259" r:id="rId7"/>
    <p:sldId id="258" r:id="rId8"/>
    <p:sldId id="260" r:id="rId9"/>
    <p:sldId id="273" r:id="rId10"/>
    <p:sldId id="285" r:id="rId11"/>
    <p:sldId id="276" r:id="rId12"/>
    <p:sldId id="277" r:id="rId13"/>
    <p:sldId id="278" r:id="rId14"/>
    <p:sldId id="286" r:id="rId15"/>
    <p:sldId id="287" r:id="rId16"/>
    <p:sldId id="261" r:id="rId17"/>
    <p:sldId id="284" r:id="rId18"/>
    <p:sldId id="288" r:id="rId19"/>
    <p:sldId id="289" r:id="rId20"/>
    <p:sldId id="290" r:id="rId21"/>
    <p:sldId id="283" r:id="rId22"/>
    <p:sldId id="282" r:id="rId23"/>
    <p:sldId id="291" r:id="rId24"/>
    <p:sldId id="292" r:id="rId25"/>
    <p:sldId id="293" r:id="rId26"/>
    <p:sldId id="294" r:id="rId27"/>
    <p:sldId id="295" r:id="rId28"/>
    <p:sldId id="296" r:id="rId29"/>
    <p:sldId id="297" r:id="rId30"/>
    <p:sldId id="301" r:id="rId31"/>
    <p:sldId id="298" r:id="rId32"/>
    <p:sldId id="299" r:id="rId33"/>
    <p:sldId id="300" r:id="rId34"/>
    <p:sldId id="274" r:id="rId3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62" d="100"/>
          <a:sy n="62" d="100"/>
        </p:scale>
        <p:origin x="828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sp>
          <p:nvSpPr>
            <p:cNvPr id="15" name="Freeform 14"/>
            <p:cNvSpPr/>
            <p:nvPr/>
          </p:nvSpPr>
          <p:spPr>
            <a:xfrm>
              <a:off x="0" y="-7862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37364F-89AB-4B95-98E5-867F7745783F}" type="datetimeFigureOut">
              <a:rPr lang="en-IN" smtClean="0"/>
              <a:t>23-02-2026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607C43-322F-4057-90ED-C5CDC991D16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51775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37364F-89AB-4B95-98E5-867F7745783F}" type="datetimeFigureOut">
              <a:rPr lang="en-IN" smtClean="0"/>
              <a:t>23-02-2026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607C43-322F-4057-90ED-C5CDC991D16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771818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37364F-89AB-4B95-98E5-867F7745783F}" type="datetimeFigureOut">
              <a:rPr lang="en-IN" smtClean="0"/>
              <a:t>23-02-2026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607C43-322F-4057-90ED-C5CDC991D16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602627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37364F-89AB-4B95-98E5-867F7745783F}" type="datetimeFigureOut">
              <a:rPr lang="en-IN" smtClean="0"/>
              <a:t>23-02-2026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607C43-322F-4057-90ED-C5CDC991D16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898286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37364F-89AB-4B95-98E5-867F7745783F}" type="datetimeFigureOut">
              <a:rPr lang="en-IN" smtClean="0"/>
              <a:t>23-02-2026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607C43-322F-4057-90ED-C5CDC991D16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169507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37364F-89AB-4B95-98E5-867F7745783F}" type="datetimeFigureOut">
              <a:rPr lang="en-IN" smtClean="0"/>
              <a:t>23-02-2026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607C43-322F-4057-90ED-C5CDC991D16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131408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37364F-89AB-4B95-98E5-867F7745783F}" type="datetimeFigureOut">
              <a:rPr lang="en-IN" smtClean="0"/>
              <a:t>23-02-2026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607C43-322F-4057-90ED-C5CDC991D16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800133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37364F-89AB-4B95-98E5-867F7745783F}" type="datetimeFigureOut">
              <a:rPr lang="en-IN" smtClean="0"/>
              <a:t>23-02-2026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607C43-322F-4057-90ED-C5CDC991D16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912606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607C43-322F-4057-90ED-C5CDC991D160}" type="slidenum">
              <a:rPr lang="en-IN" smtClean="0"/>
              <a:t>‹#›</a:t>
            </a:fld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37364F-89AB-4B95-98E5-867F7745783F}" type="datetimeFigureOut">
              <a:rPr lang="en-IN" smtClean="0"/>
              <a:t>23-02-2026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138897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37364F-89AB-4B95-98E5-867F7745783F}" type="datetimeFigureOut">
              <a:rPr lang="en-IN" smtClean="0"/>
              <a:t>23-02-2026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607C43-322F-4057-90ED-C5CDC991D16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693732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37364F-89AB-4B95-98E5-867F7745783F}" type="datetimeFigureOut">
              <a:rPr lang="en-IN" smtClean="0"/>
              <a:t>23-02-2026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607C43-322F-4057-90ED-C5CDC991D160}" type="slidenum">
              <a:rPr lang="en-IN" smtClean="0"/>
              <a:t>‹#›</a:t>
            </a:fld>
            <a:endParaRPr lang="en-IN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03092377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37364F-89AB-4B95-98E5-867F7745783F}" type="datetimeFigureOut">
              <a:rPr lang="en-IN" smtClean="0"/>
              <a:t>23-02-2026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607C43-322F-4057-90ED-C5CDC991D16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5652687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37364F-89AB-4B95-98E5-867F7745783F}" type="datetimeFigureOut">
              <a:rPr lang="en-IN" smtClean="0"/>
              <a:t>23-02-2026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607C43-322F-4057-90ED-C5CDC991D160}" type="slidenum">
              <a:rPr lang="en-IN" smtClean="0"/>
              <a:t>‹#›</a:t>
            </a:fld>
            <a:endParaRPr lang="en-IN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25051651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37364F-89AB-4B95-98E5-867F7745783F}" type="datetimeFigureOut">
              <a:rPr lang="en-IN" smtClean="0"/>
              <a:t>23-02-2026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607C43-322F-4057-90ED-C5CDC991D16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6719465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37364F-89AB-4B95-98E5-867F7745783F}" type="datetimeFigureOut">
              <a:rPr lang="en-IN" smtClean="0"/>
              <a:t>23-02-2026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607C43-322F-4057-90ED-C5CDC991D16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0070679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37364F-89AB-4B95-98E5-867F7745783F}" type="datetimeFigureOut">
              <a:rPr lang="en-IN" smtClean="0"/>
              <a:t>23-02-2026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607C43-322F-4057-90ED-C5CDC991D16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91147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9" name="Isosceles Triangle 1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F37364F-89AB-4B95-98E5-867F7745783F}" type="datetimeFigureOut">
              <a:rPr lang="en-IN" smtClean="0"/>
              <a:t>23-02-2026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4D607C43-322F-4057-90ED-C5CDC991D16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026550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  <p:sldLayoutId id="2147483681" r:id="rId4"/>
    <p:sldLayoutId id="2147483682" r:id="rId5"/>
    <p:sldLayoutId id="2147483683" r:id="rId6"/>
    <p:sldLayoutId id="2147483684" r:id="rId7"/>
    <p:sldLayoutId id="2147483685" r:id="rId8"/>
    <p:sldLayoutId id="2147483686" r:id="rId9"/>
    <p:sldLayoutId id="2147483687" r:id="rId10"/>
    <p:sldLayoutId id="2147483688" r:id="rId11"/>
    <p:sldLayoutId id="2147483689" r:id="rId12"/>
    <p:sldLayoutId id="2147483690" r:id="rId13"/>
    <p:sldLayoutId id="2147483691" r:id="rId14"/>
    <p:sldLayoutId id="2147483692" r:id="rId15"/>
    <p:sldLayoutId id="2147483693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1.png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hyperlink" Target="https://huggingface.co/datasets/nleroy917/hm_ecommerce_products?utm_source=chatgpt.com" TargetMode="External"/><Relationship Id="rId2" Type="http://schemas.openxmlformats.org/officeDocument/2006/relationships/hyperlink" Target="https://www.kaggle.com/datasets/ulrikthygepedersen/online-retail-dataset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baselight.app/u/kaggle/dataset/durgeshrao9993_dataset?utm_source=chatgpt.com" TargetMode="Externa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bin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9AC35B-F174-27A8-6A1B-366D4C3B058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7272" y="2085654"/>
            <a:ext cx="9585789" cy="1684962"/>
          </a:xfrm>
        </p:spPr>
        <p:txBody>
          <a:bodyPr/>
          <a:lstStyle/>
          <a:p>
            <a:pPr algn="ctr"/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SMART  RETAIL ANALYTICS FOR FASHION SALES</a:t>
            </a:r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C093D00-FD33-DADD-E976-B8293960179F}"/>
              </a:ext>
            </a:extLst>
          </p:cNvPr>
          <p:cNvSpPr txBox="1"/>
          <p:nvPr/>
        </p:nvSpPr>
        <p:spPr>
          <a:xfrm>
            <a:off x="5872047" y="4826775"/>
            <a:ext cx="5198724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Name : HEMALA R</a:t>
            </a:r>
          </a:p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Mentor : PANKAJ DOUNDEY</a:t>
            </a:r>
          </a:p>
          <a:p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804841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3E4E1F-FDC9-0338-A8EE-D3959935D3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89162" y="511628"/>
            <a:ext cx="8596668" cy="1320800"/>
          </a:xfrm>
        </p:spPr>
        <p:txBody>
          <a:bodyPr>
            <a:normAutofit/>
          </a:bodyPr>
          <a:lstStyle/>
          <a:p>
            <a:r>
              <a:rPr lang="en-US" sz="3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TABLE OF CONTENTS</a:t>
            </a:r>
            <a:endParaRPr lang="en-IN" sz="38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FC9FCD-9930-CA09-BE2A-F31C7250DC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1250" y="1335886"/>
            <a:ext cx="10284580" cy="4756848"/>
          </a:xfrm>
        </p:spPr>
        <p:txBody>
          <a:bodyPr>
            <a:normAutofit lnSpcReduction="10000"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Case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Focus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Objectives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Functional Diagram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Tools and Technologies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Technical Diagram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Modeling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Performance Indicators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Business Impact and Value Delivered</a:t>
            </a:r>
          </a:p>
          <a:p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881186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4CC64F-386F-3543-EFB9-58DBABEE4C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8157" y="197493"/>
            <a:ext cx="9432437" cy="1320800"/>
          </a:xfrm>
        </p:spPr>
        <p:txBody>
          <a:bodyPr>
            <a:normAutofit/>
          </a:bodyPr>
          <a:lstStyle/>
          <a:p>
            <a:pPr algn="ctr"/>
            <a:r>
              <a:rPr lang="en-US" sz="4000" b="1" dirty="0">
                <a:solidFill>
                  <a:schemeClr val="tx1"/>
                </a:solidFill>
              </a:rPr>
              <a:t>            </a:t>
            </a:r>
            <a:r>
              <a:rPr lang="en-US" sz="4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 Case Study</a:t>
            </a:r>
            <a:endParaRPr lang="en-IN" sz="40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D0EE11-5EB7-8A21-E237-C39C9D9B82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8157" y="999162"/>
            <a:ext cx="11455685" cy="527834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Fashion retailers – especially those operating in an ethnic and lifestyle segment similar to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FabIndia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run both physical stores and online sales channels. However, their current operational ecosystem is still heavily dependent on :</a:t>
            </a:r>
          </a:p>
          <a:p>
            <a:pPr>
              <a:buClr>
                <a:schemeClr val="tx1"/>
              </a:buClr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POS billing systems in stores</a:t>
            </a:r>
          </a:p>
          <a:p>
            <a:pPr>
              <a:buClr>
                <a:schemeClr val="tx1"/>
              </a:buClr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Manual or semi-automated inventory tracking</a:t>
            </a:r>
          </a:p>
          <a:p>
            <a:pPr>
              <a:buClr>
                <a:schemeClr val="tx1"/>
              </a:buClr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Periodic Excel-based sales and stock reports</a:t>
            </a:r>
          </a:p>
          <a:p>
            <a:pPr marL="0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While online channels provide better analytics, offline stores continue to lack real-time visibility into critical business metrics such as:</a:t>
            </a:r>
          </a:p>
          <a:p>
            <a:pPr>
              <a:buClr>
                <a:schemeClr val="tx1"/>
              </a:buClr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Which product, sizes or colors are selling fast</a:t>
            </a:r>
          </a:p>
          <a:p>
            <a:pPr>
              <a:buClr>
                <a:schemeClr val="tx1"/>
              </a:buClr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Which items are underperforming or stagnating</a:t>
            </a:r>
          </a:p>
          <a:p>
            <a:pPr>
              <a:buClr>
                <a:schemeClr val="tx1"/>
              </a:buClr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stock availability across locations</a:t>
            </a:r>
          </a:p>
          <a:p>
            <a:pPr marL="0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 a result, retailers often struggle to build a unified view of overall business performance across online and offline channels. Decisions around procurement, replenishment, pricing, and promotions continue to rely more on intuition and experience rather than integrated, data-driven insights.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129195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964515-E6AE-0335-CCC9-599BC68E2F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8E0B35-457B-BE02-B088-0310AD7685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630148"/>
            <a:ext cx="9432437" cy="1320800"/>
          </a:xfrm>
        </p:spPr>
        <p:txBody>
          <a:bodyPr>
            <a:normAutofit/>
          </a:bodyPr>
          <a:lstStyle/>
          <a:p>
            <a:pPr algn="ctr"/>
            <a:r>
              <a:rPr lang="en-US" sz="4000" b="1" dirty="0">
                <a:solidFill>
                  <a:schemeClr val="tx1"/>
                </a:solidFill>
              </a:rPr>
              <a:t>               </a:t>
            </a:r>
            <a:r>
              <a:rPr lang="en-US" sz="4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Project Focus</a:t>
            </a:r>
            <a:endParaRPr lang="en-IN" sz="40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852B81-CB89-0738-6CD3-3A9637701D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613043"/>
            <a:ext cx="10819448" cy="4428319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project aims to build a unified analytics solution that integrates offline POS sales and online e-commerce data for fashion retailers.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focus is to provide real-time insights into product performance, inventory movement, and store/employee productivity. By automating data analysis, the project enables accurate, data-driven decisions in merchandising and operations.</a:t>
            </a: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6756503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E6AEF7-4574-0F1C-81A4-CB99CD4B33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2B3B4F-7AC3-0C73-4FC8-0AD9DAFEC5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630148"/>
            <a:ext cx="9432437" cy="1320800"/>
          </a:xfrm>
        </p:spPr>
        <p:txBody>
          <a:bodyPr>
            <a:normAutofit/>
          </a:bodyPr>
          <a:lstStyle/>
          <a:p>
            <a:pPr algn="ctr"/>
            <a:r>
              <a:rPr lang="en-US" sz="4000" b="1" dirty="0">
                <a:solidFill>
                  <a:schemeClr val="tx1"/>
                </a:solidFill>
              </a:rPr>
              <a:t>               </a:t>
            </a:r>
            <a:r>
              <a:rPr lang="en-US" sz="4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Project Objectives</a:t>
            </a:r>
            <a:endParaRPr lang="en-IN" sz="40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B43408-2A2F-27E8-55D5-88ABC795AF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613044"/>
            <a:ext cx="10819448" cy="4212404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Centralized Data Ingestion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Automated Data Transformation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Sales Performance Analysis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Inventory Monitoring &amp; Optimization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Customer Segmentation &amp;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Behavior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Analysis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Promotion &amp; Discount Effectiveness Tracking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Employee &amp; Store Performance Evaluation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Interactive Business Intelligence Dashboards</a:t>
            </a:r>
          </a:p>
        </p:txBody>
      </p:sp>
    </p:spTree>
    <p:extLst>
      <p:ext uri="{BB962C8B-B14F-4D97-AF65-F5344CB8AC3E}">
        <p14:creationId xmlns:p14="http://schemas.microsoft.com/office/powerpoint/2010/main" val="37691760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527104-D710-CC56-57B6-C8AE08C4A5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538281"/>
          </a:xfrm>
        </p:spPr>
        <p:txBody>
          <a:bodyPr>
            <a:normAutofit fontScale="90000"/>
          </a:bodyPr>
          <a:lstStyle/>
          <a:p>
            <a:r>
              <a:rPr lang="en-US" sz="4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Functional Diagram</a:t>
            </a:r>
            <a:endParaRPr lang="en-IN" sz="40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BB1CBCE-B8E6-B100-670D-95C96EE9DD8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67553" y="1147881"/>
            <a:ext cx="2193505" cy="175284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2C5C3F2-23AC-5C9C-C53A-21F7EC7ACA1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52758" y="2423998"/>
            <a:ext cx="1552792" cy="175284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E7D6AEF-F68B-0344-2DE9-D34F91DDC5C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22723" y="2444271"/>
            <a:ext cx="1994631" cy="1707033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8CD9E5DB-73E1-41B9-4A23-73542AAFEA2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33069" y="2396102"/>
            <a:ext cx="2061633" cy="1752842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24349F27-43D6-4756-9F69-E55CC4D206F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810418" y="2396102"/>
            <a:ext cx="2343369" cy="1863459"/>
          </a:xfrm>
          <a:prstGeom prst="rect">
            <a:avLst/>
          </a:prstGeom>
        </p:spPr>
      </p:pic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9E32777F-855A-EF98-CE55-D0F61DC86907}"/>
              </a:ext>
            </a:extLst>
          </p:cNvPr>
          <p:cNvCxnSpPr>
            <a:cxnSpLocks/>
          </p:cNvCxnSpPr>
          <p:nvPr/>
        </p:nvCxnSpPr>
        <p:spPr>
          <a:xfrm>
            <a:off x="4170874" y="3309548"/>
            <a:ext cx="730967" cy="8205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16AFDAF1-6BED-B87E-38B2-1224A2A497B7}"/>
              </a:ext>
            </a:extLst>
          </p:cNvPr>
          <p:cNvCxnSpPr>
            <a:cxnSpLocks/>
            <a:stCxn id="9" idx="3"/>
          </p:cNvCxnSpPr>
          <p:nvPr/>
        </p:nvCxnSpPr>
        <p:spPr>
          <a:xfrm>
            <a:off x="6717354" y="3297788"/>
            <a:ext cx="697169" cy="22906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CD4DDB6E-0B3D-44D7-CFFD-5DAB03458855}"/>
              </a:ext>
            </a:extLst>
          </p:cNvPr>
          <p:cNvCxnSpPr>
            <a:cxnSpLocks/>
          </p:cNvCxnSpPr>
          <p:nvPr/>
        </p:nvCxnSpPr>
        <p:spPr>
          <a:xfrm>
            <a:off x="9348039" y="3272523"/>
            <a:ext cx="633048" cy="0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8658A607-458F-6CBA-B33A-B2B1849FAE8E}"/>
              </a:ext>
            </a:extLst>
          </p:cNvPr>
          <p:cNvSpPr txBox="1"/>
          <p:nvPr/>
        </p:nvSpPr>
        <p:spPr>
          <a:xfrm>
            <a:off x="1660264" y="4312161"/>
            <a:ext cx="306245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Collect Online &amp; Offline </a:t>
            </a:r>
          </a:p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Data Daily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78E66747-8CF0-9E3D-8927-05380B17F4CF}"/>
              </a:ext>
            </a:extLst>
          </p:cNvPr>
          <p:cNvSpPr txBox="1"/>
          <p:nvPr/>
        </p:nvSpPr>
        <p:spPr>
          <a:xfrm>
            <a:off x="4688047" y="4334311"/>
            <a:ext cx="213399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Process and Analyze Data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FE4F41A3-8A11-010E-8D77-5586ABB1C541}"/>
              </a:ext>
            </a:extLst>
          </p:cNvPr>
          <p:cNvSpPr txBox="1"/>
          <p:nvPr/>
        </p:nvSpPr>
        <p:spPr>
          <a:xfrm>
            <a:off x="7414523" y="4288144"/>
            <a:ext cx="22500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KPIs &amp; Insights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AEB19E0E-4A4E-9BD5-F3C0-920F5675BABC}"/>
              </a:ext>
            </a:extLst>
          </p:cNvPr>
          <p:cNvSpPr txBox="1"/>
          <p:nvPr/>
        </p:nvSpPr>
        <p:spPr>
          <a:xfrm>
            <a:off x="10078948" y="4334312"/>
            <a:ext cx="172605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Driven Decisions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FBAA8B16-03D3-031E-0CBB-FB52DD5E5B99}"/>
              </a:ext>
            </a:extLst>
          </p:cNvPr>
          <p:cNvCxnSpPr>
            <a:cxnSpLocks/>
            <a:stCxn id="5" idx="2"/>
          </p:cNvCxnSpPr>
          <p:nvPr/>
        </p:nvCxnSpPr>
        <p:spPr>
          <a:xfrm>
            <a:off x="1364306" y="2900726"/>
            <a:ext cx="0" cy="421018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170AFAC6-F2C4-3FC2-B1EC-64FD4833DEF1}"/>
              </a:ext>
            </a:extLst>
          </p:cNvPr>
          <p:cNvCxnSpPr>
            <a:cxnSpLocks/>
            <a:endCxn id="7" idx="1"/>
          </p:cNvCxnSpPr>
          <p:nvPr/>
        </p:nvCxnSpPr>
        <p:spPr>
          <a:xfrm>
            <a:off x="1364306" y="3300421"/>
            <a:ext cx="1288452" cy="0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TextBox 50">
            <a:extLst>
              <a:ext uri="{FF2B5EF4-FFF2-40B4-BE49-F238E27FC236}">
                <a16:creationId xmlns:a16="http://schemas.microsoft.com/office/drawing/2014/main" id="{90102315-05C3-6234-168F-672217A3A0AF}"/>
              </a:ext>
            </a:extLst>
          </p:cNvPr>
          <p:cNvSpPr txBox="1"/>
          <p:nvPr/>
        </p:nvSpPr>
        <p:spPr>
          <a:xfrm>
            <a:off x="289644" y="388894"/>
            <a:ext cx="214932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FabIndia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Fashion Store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BBF4B86-3D23-27C4-0ED4-099E75146F1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09912" y="4733714"/>
            <a:ext cx="2286319" cy="1514686"/>
          </a:xfrm>
          <a:prstGeom prst="rect">
            <a:avLst/>
          </a:prstGeom>
        </p:spPr>
      </p:pic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1AAF509E-29F2-7899-0CBB-D4977AE9FE31}"/>
              </a:ext>
            </a:extLst>
          </p:cNvPr>
          <p:cNvCxnSpPr>
            <a:cxnSpLocks/>
          </p:cNvCxnSpPr>
          <p:nvPr/>
        </p:nvCxnSpPr>
        <p:spPr>
          <a:xfrm flipV="1">
            <a:off x="1496656" y="3954092"/>
            <a:ext cx="0" cy="819442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98F66C8A-0D1D-62B4-7119-9FF2D7E44351}"/>
              </a:ext>
            </a:extLst>
          </p:cNvPr>
          <p:cNvCxnSpPr>
            <a:cxnSpLocks/>
          </p:cNvCxnSpPr>
          <p:nvPr/>
        </p:nvCxnSpPr>
        <p:spPr>
          <a:xfrm flipV="1">
            <a:off x="1496656" y="3927496"/>
            <a:ext cx="1099575" cy="26596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72646A48-D01F-7D7C-C4D2-389DEDB9CB3F}"/>
              </a:ext>
            </a:extLst>
          </p:cNvPr>
          <p:cNvSpPr txBox="1"/>
          <p:nvPr/>
        </p:nvSpPr>
        <p:spPr>
          <a:xfrm>
            <a:off x="883578" y="6391784"/>
            <a:ext cx="25479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Online Sales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1424359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E79925-35CF-6FEE-3565-31A823EBAA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TOOLS AND TECHNOLOGIES</a:t>
            </a:r>
            <a:endParaRPr lang="en-IN" sz="32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4186FE29-B193-74A3-A6D2-C2E981B3781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52600066"/>
              </p:ext>
            </p:extLst>
          </p:nvPr>
        </p:nvGraphicFramePr>
        <p:xfrm>
          <a:off x="2024009" y="1582220"/>
          <a:ext cx="7746716" cy="4350965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3873358">
                  <a:extLst>
                    <a:ext uri="{9D8B030D-6E8A-4147-A177-3AD203B41FA5}">
                      <a16:colId xmlns:a16="http://schemas.microsoft.com/office/drawing/2014/main" val="4150679531"/>
                    </a:ext>
                  </a:extLst>
                </a:gridCol>
                <a:gridCol w="3873358">
                  <a:extLst>
                    <a:ext uri="{9D8B030D-6E8A-4147-A177-3AD203B41FA5}">
                      <a16:colId xmlns:a16="http://schemas.microsoft.com/office/drawing/2014/main" val="4202163923"/>
                    </a:ext>
                  </a:extLst>
                </a:gridCol>
              </a:tblGrid>
              <a:tr h="44904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4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Phase</a:t>
                      </a:r>
                      <a:endParaRPr lang="en-IN" sz="24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0800" marR="50800" marT="50800" marB="50800"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4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Azure Tool</a:t>
                      </a:r>
                      <a:endParaRPr lang="en-IN" sz="24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0800" marR="50800" marT="50800" marB="50800"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55329413"/>
                  </a:ext>
                </a:extLst>
              </a:tr>
              <a:tr h="77672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400" b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Data Ingestion</a:t>
                      </a:r>
                      <a:endParaRPr lang="en-IN" sz="24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0800" marR="50800" marT="50800" marB="508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400" b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Azure Data Lake Gen2</a:t>
                      </a:r>
                      <a:endParaRPr lang="en-IN" sz="24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0800" marR="50800" marT="50800" marB="50800" anchor="ctr"/>
                </a:tc>
                <a:extLst>
                  <a:ext uri="{0D108BD9-81ED-4DB2-BD59-A6C34878D82A}">
                    <a16:rowId xmlns:a16="http://schemas.microsoft.com/office/drawing/2014/main" val="2111964609"/>
                  </a:ext>
                </a:extLst>
              </a:tr>
              <a:tr h="77672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400" b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Orchestration</a:t>
                      </a:r>
                      <a:endParaRPr lang="en-IN" sz="24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0800" marR="50800" marT="50800" marB="508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4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Azure Data Factory</a:t>
                      </a:r>
                      <a:endParaRPr lang="en-IN" sz="24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0800" marR="50800" marT="50800" marB="50800" anchor="ctr"/>
                </a:tc>
                <a:extLst>
                  <a:ext uri="{0D108BD9-81ED-4DB2-BD59-A6C34878D82A}">
                    <a16:rowId xmlns:a16="http://schemas.microsoft.com/office/drawing/2014/main" val="1451864796"/>
                  </a:ext>
                </a:extLst>
              </a:tr>
              <a:tr h="77672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400" b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Data Processing</a:t>
                      </a:r>
                      <a:endParaRPr lang="en-IN" sz="24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0800" marR="50800" marT="50800" marB="508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400" b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Azure Databricks</a:t>
                      </a:r>
                      <a:endParaRPr lang="en-IN" sz="24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0800" marR="50800" marT="50800" marB="50800" anchor="ctr"/>
                </a:tc>
                <a:extLst>
                  <a:ext uri="{0D108BD9-81ED-4DB2-BD59-A6C34878D82A}">
                    <a16:rowId xmlns:a16="http://schemas.microsoft.com/office/drawing/2014/main" val="180284422"/>
                  </a:ext>
                </a:extLst>
              </a:tr>
              <a:tr h="77672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400" b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Data Warehouse</a:t>
                      </a:r>
                      <a:endParaRPr lang="en-IN" sz="24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0800" marR="50800" marT="50800" marB="508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400" b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Azure Synapse</a:t>
                      </a:r>
                      <a:endParaRPr lang="en-IN" sz="24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0800" marR="50800" marT="50800" marB="50800" anchor="ctr"/>
                </a:tc>
                <a:extLst>
                  <a:ext uri="{0D108BD9-81ED-4DB2-BD59-A6C34878D82A}">
                    <a16:rowId xmlns:a16="http://schemas.microsoft.com/office/drawing/2014/main" val="2092974959"/>
                  </a:ext>
                </a:extLst>
              </a:tr>
              <a:tr h="77672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400" b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Visualization</a:t>
                      </a:r>
                      <a:endParaRPr lang="en-IN" sz="24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0800" marR="50800" marT="50800" marB="508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4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Power BI</a:t>
                      </a:r>
                      <a:endParaRPr lang="en-IN" sz="24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0800" marR="50800" marT="50800" marB="50800" anchor="ctr"/>
                </a:tc>
                <a:extLst>
                  <a:ext uri="{0D108BD9-81ED-4DB2-BD59-A6C34878D82A}">
                    <a16:rowId xmlns:a16="http://schemas.microsoft.com/office/drawing/2014/main" val="395622485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1301376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462792-7235-D89F-FBAC-FACDA36844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7812" y="235734"/>
            <a:ext cx="8596668" cy="1320800"/>
          </a:xfrm>
        </p:spPr>
        <p:txBody>
          <a:bodyPr/>
          <a:lstStyle/>
          <a:p>
            <a:pPr algn="ctr"/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Technical Diagram</a:t>
            </a:r>
            <a:b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2830E33E-31DC-BC05-74CF-C730BBDA89D1}"/>
              </a:ext>
            </a:extLst>
          </p:cNvPr>
          <p:cNvCxnSpPr>
            <a:cxnSpLocks/>
          </p:cNvCxnSpPr>
          <p:nvPr/>
        </p:nvCxnSpPr>
        <p:spPr>
          <a:xfrm>
            <a:off x="1259890" y="2524251"/>
            <a:ext cx="754733" cy="0"/>
          </a:xfrm>
          <a:prstGeom prst="straightConnector1">
            <a:avLst/>
          </a:prstGeom>
          <a:ln w="57150">
            <a:solidFill>
              <a:srgbClr val="00206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05B575E6-C38E-C66B-F7C3-4EE3EE391EDF}"/>
              </a:ext>
            </a:extLst>
          </p:cNvPr>
          <p:cNvCxnSpPr>
            <a:cxnSpLocks/>
          </p:cNvCxnSpPr>
          <p:nvPr/>
        </p:nvCxnSpPr>
        <p:spPr>
          <a:xfrm>
            <a:off x="3527536" y="2544800"/>
            <a:ext cx="576717" cy="0"/>
          </a:xfrm>
          <a:prstGeom prst="straightConnector1">
            <a:avLst/>
          </a:prstGeom>
          <a:ln w="57150">
            <a:solidFill>
              <a:srgbClr val="00206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9DFA94E3-7D33-0C32-B10D-33C7A2ACDFA1}"/>
              </a:ext>
            </a:extLst>
          </p:cNvPr>
          <p:cNvCxnSpPr>
            <a:cxnSpLocks/>
          </p:cNvCxnSpPr>
          <p:nvPr/>
        </p:nvCxnSpPr>
        <p:spPr>
          <a:xfrm>
            <a:off x="5581162" y="2579137"/>
            <a:ext cx="576717" cy="0"/>
          </a:xfrm>
          <a:prstGeom prst="straightConnector1">
            <a:avLst/>
          </a:prstGeom>
          <a:ln w="57150">
            <a:solidFill>
              <a:srgbClr val="00206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CB3304B6-2B8E-D07B-66CE-325B421406E3}"/>
              </a:ext>
            </a:extLst>
          </p:cNvPr>
          <p:cNvCxnSpPr>
            <a:cxnSpLocks/>
          </p:cNvCxnSpPr>
          <p:nvPr/>
        </p:nvCxnSpPr>
        <p:spPr>
          <a:xfrm>
            <a:off x="7738041" y="2582651"/>
            <a:ext cx="576717" cy="0"/>
          </a:xfrm>
          <a:prstGeom prst="straightConnector1">
            <a:avLst/>
          </a:prstGeom>
          <a:ln w="57150">
            <a:solidFill>
              <a:srgbClr val="00206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F3562FC0-4AD3-2B21-7937-C83694920785}"/>
              </a:ext>
            </a:extLst>
          </p:cNvPr>
          <p:cNvCxnSpPr>
            <a:cxnSpLocks/>
          </p:cNvCxnSpPr>
          <p:nvPr/>
        </p:nvCxnSpPr>
        <p:spPr>
          <a:xfrm>
            <a:off x="9976781" y="2551795"/>
            <a:ext cx="576717" cy="0"/>
          </a:xfrm>
          <a:prstGeom prst="straightConnector1">
            <a:avLst/>
          </a:prstGeom>
          <a:ln w="57150">
            <a:solidFill>
              <a:srgbClr val="00206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Picture 3">
            <a:extLst>
              <a:ext uri="{FF2B5EF4-FFF2-40B4-BE49-F238E27FC236}">
                <a16:creationId xmlns:a16="http://schemas.microsoft.com/office/drawing/2014/main" id="{95E6CA1E-FFD7-1628-B18D-62A1792825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50546" y="896134"/>
            <a:ext cx="1765706" cy="3716963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C799C7DC-96AE-6702-A542-0C1C9B72ED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06984" y="909923"/>
            <a:ext cx="1808911" cy="3716962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C8CB7D3F-6805-21FF-6D3D-A685EDF659F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03815" y="909923"/>
            <a:ext cx="1765706" cy="3716962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F1A99F95-1D3C-6992-6BCB-B28C45FB9E3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73190" y="913352"/>
            <a:ext cx="1765706" cy="3713533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FFF1E70C-9DF5-8DAD-FFE4-0E58ABCEB5C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14758" y="892943"/>
            <a:ext cx="1950382" cy="3703173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70304392-B5AF-7CC3-8968-3C616999AC4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553498" y="896134"/>
            <a:ext cx="1705557" cy="37307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157410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30BC4B-6F0F-57AE-9CC0-53A77CAC35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D7A437-235A-F498-D31D-650015EC6D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1995" y="301376"/>
            <a:ext cx="8596668" cy="1320800"/>
          </a:xfrm>
        </p:spPr>
        <p:txBody>
          <a:bodyPr/>
          <a:lstStyle/>
          <a:p>
            <a:pPr algn="ctr"/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</a:t>
            </a:r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B875A2-9D90-ED18-378B-0C1F1EA315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6449" y="824596"/>
            <a:ext cx="11709115" cy="5552914"/>
          </a:xfrm>
        </p:spPr>
        <p:txBody>
          <a:bodyPr>
            <a:normAutofit fontScale="92500" lnSpcReduction="10000"/>
          </a:bodyPr>
          <a:lstStyle/>
          <a:p>
            <a:pPr marL="0" indent="0">
              <a:lnSpc>
                <a:spcPct val="120000"/>
              </a:lnSpc>
              <a:buNone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dataset is divided into </a:t>
            </a: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fact table and multiple dimension tables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en-IN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Fact_Sales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In-store sales transactions.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en-IN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Fact_Sales_Online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Online sales transactions.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en-IN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Fact_Returns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Returned sales records.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en-IN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Fact_Expenses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Operational expense data.</a:t>
            </a:r>
            <a:endParaRPr lang="en-I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en-IN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Dim_Branch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Branch location details.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en-IN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Dim_Customer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Customer profile data.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en-IN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Dim_Date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Calendar and time attributes.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en-IN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Dim_Order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Order-level information.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en-IN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Dim_Customer_Segment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Customer classification groups.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en-IN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Dim_Size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Product size reference.</a:t>
            </a:r>
          </a:p>
          <a:p>
            <a:pPr marL="0" indent="0">
              <a:buNone/>
            </a:pPr>
            <a:endParaRPr lang="en-IN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FBD1D8E-B808-7954-D35F-6DBF9B684F0D}"/>
              </a:ext>
            </a:extLst>
          </p:cNvPr>
          <p:cNvSpPr txBox="1"/>
          <p:nvPr/>
        </p:nvSpPr>
        <p:spPr>
          <a:xfrm>
            <a:off x="4014530" y="132233"/>
            <a:ext cx="722273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</a:t>
            </a:r>
            <a:endParaRPr lang="en-I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0290300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DE1D82-6511-79EA-CC6A-E79EBB94B9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8B6A8C-348A-8B08-B8BC-A30879F952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1995" y="301376"/>
            <a:ext cx="8596668" cy="1320800"/>
          </a:xfrm>
        </p:spPr>
        <p:txBody>
          <a:bodyPr/>
          <a:lstStyle/>
          <a:p>
            <a:pPr algn="ctr"/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</a:t>
            </a:r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413641-0ECB-EA33-A655-5CC5DD4C7A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76045" y="1369478"/>
            <a:ext cx="10171416" cy="5010774"/>
          </a:xfrm>
        </p:spPr>
        <p:txBody>
          <a:bodyPr>
            <a:normAutofit fontScale="92500" lnSpcReduction="20000"/>
          </a:bodyPr>
          <a:lstStyle/>
          <a:p>
            <a:pPr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en-IN" sz="2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Dim_Store</a:t>
            </a: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Store master details.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en-IN" sz="2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Dim_Supplier</a:t>
            </a: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Supplier information.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en-IN" sz="2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Dim_Product</a:t>
            </a: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Product master data.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en-IN" sz="2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Dim_Employee</a:t>
            </a: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Employee details.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en-IN" sz="2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Dim_Promotion</a:t>
            </a: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Promotion details.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en-IN" sz="2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Dim_Fabric</a:t>
            </a: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Fabric type reference.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en-IN" sz="2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Dim_Channel</a:t>
            </a: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Sales channel types.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en-IN" sz="2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Dim_Inventory</a:t>
            </a: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Stock level records.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en-IN" sz="2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Dim_Payment_Method</a:t>
            </a: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Payment mode types.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en-IN" sz="2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Dim_Return_Reason</a:t>
            </a: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Return reason categories.</a:t>
            </a:r>
          </a:p>
          <a:p>
            <a:pPr marL="0" indent="0">
              <a:buNone/>
            </a:pPr>
            <a:endParaRPr lang="en-IN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6E1B7FD-BC75-8DB0-302D-56EBE727291A}"/>
              </a:ext>
            </a:extLst>
          </p:cNvPr>
          <p:cNvSpPr txBox="1"/>
          <p:nvPr/>
        </p:nvSpPr>
        <p:spPr>
          <a:xfrm>
            <a:off x="4500080" y="560210"/>
            <a:ext cx="722273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</a:t>
            </a:r>
            <a:endParaRPr lang="en-I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6012442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0A7E63-6ADB-0B1A-0DAE-E575CFD412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EE7532-6C85-89D6-032B-D1731346B3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1995" y="301376"/>
            <a:ext cx="8596668" cy="1320800"/>
          </a:xfrm>
        </p:spPr>
        <p:txBody>
          <a:bodyPr/>
          <a:lstStyle/>
          <a:p>
            <a:pPr algn="ctr"/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</a:t>
            </a:r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6457E33-C9CC-0AFE-E699-1F29AD78054C}"/>
              </a:ext>
            </a:extLst>
          </p:cNvPr>
          <p:cNvSpPr txBox="1"/>
          <p:nvPr/>
        </p:nvSpPr>
        <p:spPr>
          <a:xfrm>
            <a:off x="3311634" y="573817"/>
            <a:ext cx="722273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FACT AND DIMENSIONS TABLES</a:t>
            </a:r>
            <a:endParaRPr lang="en-I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A3239652-495A-7954-9A6F-CB213A889D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7111" y="1277070"/>
            <a:ext cx="3886742" cy="4341963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729D7151-6FBF-6C41-22FE-D6B7F0A910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3934" y="1280811"/>
            <a:ext cx="3334215" cy="4334480"/>
          </a:xfrm>
          <a:prstGeom prst="rect">
            <a:avLst/>
          </a:prstGeom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EC1E19EA-2FFF-C0AD-784C-899E4147212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98230" y="1242707"/>
            <a:ext cx="3686689" cy="43725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47581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FD1616-051E-C0F3-A272-E2F1A02D4C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DA5134-7220-7722-90B0-C49447C0B7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1995" y="301376"/>
            <a:ext cx="8596668" cy="1320800"/>
          </a:xfrm>
        </p:spPr>
        <p:txBody>
          <a:bodyPr/>
          <a:lstStyle/>
          <a:p>
            <a:pPr algn="ctr"/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</a:t>
            </a:r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C15DAF0-E0C2-579E-17A8-2760CFF570CD}"/>
              </a:ext>
            </a:extLst>
          </p:cNvPr>
          <p:cNvSpPr txBox="1"/>
          <p:nvPr/>
        </p:nvSpPr>
        <p:spPr>
          <a:xfrm>
            <a:off x="3524422" y="566243"/>
            <a:ext cx="722273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DIMENSIONS TABLES</a:t>
            </a:r>
            <a:endParaRPr lang="en-I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CEA7DED-1915-46FD-8476-D5044086DF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5009" y="1369477"/>
            <a:ext cx="2494764" cy="3985101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8D960025-F1C1-4C1A-8AF8-1AAA4728C5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24422" y="1361904"/>
            <a:ext cx="2494764" cy="3992673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8C89D79C-06C9-762F-BF2B-FE752EEDB13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52583" y="1369478"/>
            <a:ext cx="2239029" cy="3985102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8AEC1759-3472-BE62-A2D1-0834F3EBD82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3254" y="1411085"/>
            <a:ext cx="2839453" cy="39434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02115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655802-B797-3D78-8A52-38FD2BAEA3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4174A9-6D33-43C7-050B-BB3F8DF483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1995" y="301376"/>
            <a:ext cx="8596668" cy="1320800"/>
          </a:xfrm>
        </p:spPr>
        <p:txBody>
          <a:bodyPr/>
          <a:lstStyle/>
          <a:p>
            <a:pPr algn="ctr"/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</a:t>
            </a:r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B0DD306-A115-6630-11AE-A57010CF24AB}"/>
              </a:ext>
            </a:extLst>
          </p:cNvPr>
          <p:cNvSpPr txBox="1"/>
          <p:nvPr/>
        </p:nvSpPr>
        <p:spPr>
          <a:xfrm>
            <a:off x="3311634" y="767399"/>
            <a:ext cx="722273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DIMENSIONS TABLES</a:t>
            </a:r>
            <a:endParaRPr lang="en-I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679E16D3-8AA7-21FD-77C2-F4D0E07949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6603" y="1894617"/>
            <a:ext cx="2569272" cy="3934374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B2900A01-85DF-ADBA-0047-F806D75067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17967" y="1894617"/>
            <a:ext cx="2437117" cy="3934374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95D5AE92-DBE4-D93B-7467-4D382514BF0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17176" y="1894617"/>
            <a:ext cx="3017191" cy="38581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213441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E555CA-9B42-EAA0-C9CD-F8D9C3CB8A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0DC86D-EFFD-C788-3879-71DC5CCD25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1995" y="301376"/>
            <a:ext cx="8596668" cy="1320800"/>
          </a:xfrm>
        </p:spPr>
        <p:txBody>
          <a:bodyPr/>
          <a:lstStyle/>
          <a:p>
            <a:pPr algn="ctr"/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</a:t>
            </a:r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B0B4DEB-5083-55BB-E8AF-74A322771FA6}"/>
              </a:ext>
            </a:extLst>
          </p:cNvPr>
          <p:cNvSpPr txBox="1"/>
          <p:nvPr/>
        </p:nvSpPr>
        <p:spPr>
          <a:xfrm>
            <a:off x="3311634" y="573817"/>
            <a:ext cx="722273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FACT AND DIMENSIONS TABLES</a:t>
            </a:r>
            <a:endParaRPr lang="en-I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F2178AD-9D3D-9C8F-F8C2-0201C236E3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1995" y="1427689"/>
            <a:ext cx="2152950" cy="293410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D43D8F5-BD35-F7F6-23F9-B4B9253ED7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93771" y="1369478"/>
            <a:ext cx="1905266" cy="308266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B32211E-B13F-2107-4309-0B35E2245F4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68620" y="1256462"/>
            <a:ext cx="2280863" cy="1970683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18F66C39-2485-F6CC-3F94-9BFEA46BCD6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68619" y="3702775"/>
            <a:ext cx="2280863" cy="9929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467850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614F8F-80F1-5A59-6759-864060945E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54051B-A0F2-61AD-86A2-43597FE647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1995" y="301376"/>
            <a:ext cx="8596668" cy="1320800"/>
          </a:xfrm>
        </p:spPr>
        <p:txBody>
          <a:bodyPr/>
          <a:lstStyle/>
          <a:p>
            <a:pPr algn="ctr"/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</a:t>
            </a:r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62E45F4-5A9F-641A-3B96-73BF379E444B}"/>
              </a:ext>
            </a:extLst>
          </p:cNvPr>
          <p:cNvSpPr txBox="1"/>
          <p:nvPr/>
        </p:nvSpPr>
        <p:spPr>
          <a:xfrm>
            <a:off x="3311634" y="573817"/>
            <a:ext cx="722273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FACT AND DIMENSIONS TABLES</a:t>
            </a:r>
            <a:endParaRPr lang="en-I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8294E1E-1A05-4DF6-6E3D-63296DFD35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15256" y="1628742"/>
            <a:ext cx="2424701" cy="252941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ACFEA294-76A9-2E7B-6DAD-E2C8A19267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58956" y="1628743"/>
            <a:ext cx="2424701" cy="2488067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6F181167-CDEB-81CB-7571-2981020DE83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58373" y="1797978"/>
            <a:ext cx="1975994" cy="2318831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94C523AB-E2D0-8D7E-1006-2FEE27AB3C4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1515" y="1622176"/>
            <a:ext cx="2095842" cy="2494633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CEDC3B4F-98D0-DAA4-CD0E-C5674D1907F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131373" y="4823146"/>
            <a:ext cx="2683883" cy="10571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206608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D0188B-2233-E74A-4751-1978C8796F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9325" y="547955"/>
            <a:ext cx="9750936" cy="1320800"/>
          </a:xfrm>
        </p:spPr>
        <p:txBody>
          <a:bodyPr/>
          <a:lstStyle/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Data Modelling</a:t>
            </a:r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D43F1264-A6C1-DB15-618C-361C30637F8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017" y="1376736"/>
            <a:ext cx="12000214" cy="5383659"/>
          </a:xfrm>
        </p:spPr>
      </p:pic>
    </p:spTree>
    <p:extLst>
      <p:ext uri="{BB962C8B-B14F-4D97-AF65-F5344CB8AC3E}">
        <p14:creationId xmlns:p14="http://schemas.microsoft.com/office/powerpoint/2010/main" val="81589573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B7C9A9-EB47-C757-E3A4-9F8ED1CD3B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1590" y="116440"/>
            <a:ext cx="8596668" cy="592476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Data Modeling</a:t>
            </a:r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80E3B98-479B-9D35-B5C3-5C4687CA9C1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795" y="1039403"/>
            <a:ext cx="12082409" cy="5818597"/>
          </a:xfrm>
        </p:spPr>
      </p:pic>
    </p:spTree>
    <p:extLst>
      <p:ext uri="{BB962C8B-B14F-4D97-AF65-F5344CB8AC3E}">
        <p14:creationId xmlns:p14="http://schemas.microsoft.com/office/powerpoint/2010/main" val="141297042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6BDC59-46B8-4D56-FFAA-6DD42CEE82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Key Performance Indicators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ABE576-90B0-81ED-C1B9-134E25DBD7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68401" y="1617134"/>
            <a:ext cx="8906932" cy="4419600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Total Revenue</a:t>
            </a:r>
          </a:p>
          <a:p>
            <a:pPr marL="0" indent="0"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Formula: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SUM(Sales Amount)</a:t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About: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Total income generated from all sales.</a:t>
            </a:r>
          </a:p>
          <a:p>
            <a:pPr marL="0" indent="0">
              <a:buNone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2.Net Profit Margin</a:t>
            </a:r>
          </a:p>
          <a:p>
            <a:pPr marL="0" indent="0"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Formula: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(Net Profit / Total Revenue) × 100</a:t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About: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Measures overall profitability percentage.</a:t>
            </a:r>
          </a:p>
          <a:p>
            <a:pPr marL="0" indent="0">
              <a:buNone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3.Gross Margin</a:t>
            </a:r>
          </a:p>
          <a:p>
            <a:pPr marL="0" indent="0"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Formula: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(Revenue – Cost of Goods Sold) / Revenue × 100</a:t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About: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Shows profit before operational expenses.</a:t>
            </a:r>
          </a:p>
          <a:p>
            <a:pPr marL="0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7719737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89B86C-4874-4698-E9D0-1EF858CBAB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CFF3E8-24C6-3B2C-8107-D8B0C7DF37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Key Performance Indicators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EF65BC-06B4-3EE1-9D08-2246DBCA37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3" y="1617133"/>
            <a:ext cx="11269133" cy="4424229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Sales per Store</a:t>
            </a:r>
          </a:p>
          <a:p>
            <a:pPr marL="0" indent="0">
              <a:buNone/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Formula: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Total Revenue / Number of Stores</a:t>
            </a:r>
            <a:b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About: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Measures store performance efficiency.</a:t>
            </a:r>
          </a:p>
          <a:p>
            <a:pPr marL="0" indent="0">
              <a:buNone/>
            </a:pP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5. Sales per Employee</a:t>
            </a:r>
          </a:p>
          <a:p>
            <a:pPr marL="0" indent="0">
              <a:buNone/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Formula: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Total Revenue / Number of Employees</a:t>
            </a:r>
            <a:b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About: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Evaluates employee productivity.</a:t>
            </a:r>
          </a:p>
          <a:p>
            <a:pPr marL="0" indent="0">
              <a:buNone/>
            </a:pP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6. Month-over-Month (MoM) Growth</a:t>
            </a:r>
          </a:p>
          <a:p>
            <a:pPr marL="0" indent="0">
              <a:buNone/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Formula: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((Current Month Sales – Previous Month Sales) / Previous Month Sales) × 100</a:t>
            </a:r>
            <a:b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About: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Tracks monthly sales growth trend.</a:t>
            </a:r>
          </a:p>
          <a:p>
            <a:pPr marL="0" indent="0">
              <a:buNone/>
            </a:pP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IN" sz="2200" dirty="0"/>
          </a:p>
        </p:txBody>
      </p:sp>
    </p:spTree>
    <p:extLst>
      <p:ext uri="{BB962C8B-B14F-4D97-AF65-F5344CB8AC3E}">
        <p14:creationId xmlns:p14="http://schemas.microsoft.com/office/powerpoint/2010/main" val="66452548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FCFA35-614A-0177-6748-ACA3C8CC1F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5F62A6-77B8-2DA9-FDA3-AB0465358F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Key Performance Indicators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8EEBFD-EF7D-1393-4A1A-C31840E851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3" y="1320801"/>
            <a:ext cx="10473267" cy="4720562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7. Inventory Turnover Ratio</a:t>
            </a:r>
          </a:p>
          <a:p>
            <a:pPr marL="0" indent="0">
              <a:buNone/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Formula: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Cost of Goods Sold / Average Inventory</a:t>
            </a:r>
            <a:b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About: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Indicates how efficiently inventory is sold.</a:t>
            </a:r>
          </a:p>
          <a:p>
            <a:pPr marL="0" indent="0">
              <a:buNone/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8. Stockout Rate</a:t>
            </a:r>
          </a:p>
          <a:p>
            <a:pPr marL="0" indent="0">
              <a:buNone/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Formula: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(Stockout Days / Total Selling Days) × 100</a:t>
            </a:r>
            <a:b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About: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Measures frequency of product unavailability.</a:t>
            </a:r>
          </a:p>
          <a:p>
            <a:pPr marL="0" indent="0">
              <a:buNone/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9. Customer Retention Rate</a:t>
            </a:r>
          </a:p>
          <a:p>
            <a:pPr marL="0" indent="0">
              <a:buNone/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Formula: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((Customers at End – New Customers) / Customers at Start) × 100</a:t>
            </a:r>
            <a:b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About: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Shows how well the business retains customers.</a:t>
            </a:r>
          </a:p>
          <a:p>
            <a:pPr marL="0" indent="0">
              <a:buNone/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10. Return Rate</a:t>
            </a:r>
          </a:p>
          <a:p>
            <a:pPr marL="0" indent="0">
              <a:buNone/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Formula: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(Returned Items / Total Items Sold) × 100</a:t>
            </a:r>
            <a:b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About: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Measures product return percentage.</a:t>
            </a:r>
          </a:p>
          <a:p>
            <a:pPr marL="0" indent="0">
              <a:buNone/>
            </a:pPr>
            <a:endParaRPr lang="en-IN" sz="2200" dirty="0"/>
          </a:p>
        </p:txBody>
      </p:sp>
    </p:spTree>
    <p:extLst>
      <p:ext uri="{BB962C8B-B14F-4D97-AF65-F5344CB8AC3E}">
        <p14:creationId xmlns:p14="http://schemas.microsoft.com/office/powerpoint/2010/main" val="233143065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C3BB11-D03A-9500-A958-BD9C220314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09686" y="260279"/>
            <a:ext cx="8596668" cy="1320800"/>
          </a:xfrm>
        </p:spPr>
        <p:txBody>
          <a:bodyPr/>
          <a:lstStyle/>
          <a:p>
            <a:r>
              <a:rPr lang="en-US" b="1" dirty="0"/>
              <a:t>                 </a:t>
            </a:r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Reference Datasets</a:t>
            </a:r>
            <a:br>
              <a:rPr lang="en-US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41203C-70E4-DD95-9E1E-D8F1D4DAC5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3" y="1109608"/>
            <a:ext cx="11292059" cy="5578868"/>
          </a:xfrm>
        </p:spPr>
        <p:txBody>
          <a:bodyPr>
            <a:normAutofit fontScale="55000" lnSpcReduction="20000"/>
          </a:bodyPr>
          <a:lstStyle/>
          <a:p>
            <a:pPr marL="0" indent="0">
              <a:lnSpc>
                <a:spcPct val="120000"/>
              </a:lnSpc>
              <a:buNone/>
            </a:pPr>
            <a:r>
              <a:rPr lang="en-US" sz="3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following open-source datasets were referred to for understanding structure, attributes, and retail sales patterns: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IN" sz="3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Online Retail Dataset (Transactions)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IN" sz="3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Kaggle Link: </a:t>
            </a:r>
            <a:r>
              <a:rPr lang="en-IN" sz="3300" dirty="0"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https://www.kaggle.com/datasets/ulrikthygepedersen/online-retail-dataset</a:t>
            </a:r>
            <a:br>
              <a:rPr lang="en-IN" sz="33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3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Includes transactional sales data such as product code, description, quantity, price, date/time, customer ID, and country — great for sales and inventory references. </a:t>
            </a:r>
            <a:br>
              <a:rPr lang="en-IN" sz="33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sz="3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20000"/>
              </a:lnSpc>
              <a:buNone/>
            </a:pPr>
            <a:r>
              <a:rPr lang="en-IN" sz="3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H&amp;M Ecommerce Products Dataset (Enhanced Version on Hugging Face)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IN" sz="3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Hugging Face Link: </a:t>
            </a:r>
            <a:r>
              <a:rPr lang="en-IN" sz="3300" dirty="0"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https://huggingface.co/datasets/nleroy917/hm_ecommerce_products</a:t>
            </a:r>
            <a:br>
              <a:rPr lang="en-IN" sz="33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3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Contains rich product metadata, customer info, sales transaction history and image URLs — useful for multi-attribute retail structure reference. </a:t>
            </a:r>
            <a:br>
              <a:rPr lang="en-IN" sz="33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sz="3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20000"/>
              </a:lnSpc>
              <a:buNone/>
            </a:pPr>
            <a:r>
              <a:rPr lang="en-IN" sz="3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Women Fashion Trend Dataset (Kaggle)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IN" sz="3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Link : </a:t>
            </a:r>
            <a:r>
              <a:rPr lang="en-IN" sz="3300" dirty="0">
                <a:latin typeface="Times New Roman" panose="02020603050405020304" pitchFamily="18" charset="0"/>
                <a:cs typeface="Times New Roman" panose="02020603050405020304" pitchFamily="18" charset="0"/>
                <a:hlinkClick r:id="rId4"/>
              </a:rPr>
              <a:t>https://baselight.app/u/kaggle/dataset/durgeshrao9993_dataset</a:t>
            </a:r>
            <a:br>
              <a:rPr lang="en-IN" sz="33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3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Includes ~43 columns covering price, ratings, inventory counts, </a:t>
            </a:r>
            <a:r>
              <a:rPr lang="en-IN" sz="33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colors</a:t>
            </a:r>
            <a:r>
              <a:rPr lang="en-IN" sz="3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tags, merchant info, and trends — good for product and trend analysis reference. </a:t>
            </a:r>
          </a:p>
          <a:p>
            <a:pPr>
              <a:lnSpc>
                <a:spcPct val="170000"/>
              </a:lnSpc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9485446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D3112B-FFA8-D0A3-E32B-BD52A24A02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611448-55E7-0519-2C42-4DB347562B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512" y="709078"/>
            <a:ext cx="8596668" cy="1320800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</a:t>
            </a:r>
            <a:r>
              <a:rPr lang="en-IN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Business Impact &amp; Value Delivered</a:t>
            </a:r>
            <a:b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88EAE399-D5BF-615B-9B4C-C1E0D3DDAFE9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986319" y="2029878"/>
            <a:ext cx="9325999" cy="32465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Faster and automated sales reporting</a:t>
            </a: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Improved inventory planning and reduced stockouts</a:t>
            </a: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Better understanding of customer buying behavior</a:t>
            </a: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Store and employee performance visibility</a:t>
            </a: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Data-driven decision-making instead of manual analysis</a:t>
            </a:r>
          </a:p>
        </p:txBody>
      </p:sp>
    </p:spTree>
    <p:extLst>
      <p:ext uri="{BB962C8B-B14F-4D97-AF65-F5344CB8AC3E}">
        <p14:creationId xmlns:p14="http://schemas.microsoft.com/office/powerpoint/2010/main" val="102327535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42BF6F-1897-F8B4-D0B2-44E2B8A46F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DC757B-D38F-DF03-D6F4-DD28E6A361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5245" y="378878"/>
            <a:ext cx="8596668" cy="1320800"/>
          </a:xfrm>
        </p:spPr>
        <p:txBody>
          <a:bodyPr>
            <a:normAutofit/>
          </a:bodyPr>
          <a:lstStyle/>
          <a:p>
            <a:pPr algn="ctr"/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</a:t>
            </a:r>
            <a:r>
              <a:rPr lang="en-IN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Copy Activity for all file formats</a:t>
            </a:r>
            <a:b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Content Placeholder 2">
            <a:extLst>
              <a:ext uri="{FF2B5EF4-FFF2-40B4-BE49-F238E27FC236}">
                <a16:creationId xmlns:a16="http://schemas.microsoft.com/office/drawing/2014/main" id="{C8C051D0-98F0-A070-7415-3432D32FF7C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1369477"/>
            <a:ext cx="12192000" cy="51921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30593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8668EC-A059-B581-D4F8-AB7720EA45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C3E0D1-6AB4-E326-307B-29903C12C2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5245" y="378878"/>
            <a:ext cx="8596668" cy="1320800"/>
          </a:xfrm>
        </p:spPr>
        <p:txBody>
          <a:bodyPr>
            <a:normAutofit/>
          </a:bodyPr>
          <a:lstStyle/>
          <a:p>
            <a:pPr algn="ctr"/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</a:t>
            </a:r>
            <a:r>
              <a:rPr lang="en-IN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Pipeline to process Json file</a:t>
            </a:r>
            <a:b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221580C8-EDA4-6506-8A90-5A6628DC177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1219200"/>
            <a:ext cx="12192000" cy="5537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435267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CE7C16-710F-142C-BFDE-B00F410D2E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A2BE23-A1B0-CFA0-E22F-154D45B9E2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5245" y="378878"/>
            <a:ext cx="8596668" cy="1320800"/>
          </a:xfrm>
        </p:spPr>
        <p:txBody>
          <a:bodyPr>
            <a:normAutofit/>
          </a:bodyPr>
          <a:lstStyle/>
          <a:p>
            <a:pPr algn="ctr"/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</a:t>
            </a:r>
            <a:r>
              <a:rPr lang="en-IN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Pipeline to process CSV file</a:t>
            </a:r>
            <a:b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DEBDDAE-F64E-8F7A-3CA1-C42D2E83C35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1176867"/>
            <a:ext cx="12191999" cy="56218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51351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79CB9C-C06A-8AA2-3B8E-2C9B81A12A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FAD879-07FF-B3E1-098B-E3648BECA5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5245" y="378878"/>
            <a:ext cx="8596668" cy="1320800"/>
          </a:xfrm>
        </p:spPr>
        <p:txBody>
          <a:bodyPr>
            <a:normAutofit/>
          </a:bodyPr>
          <a:lstStyle/>
          <a:p>
            <a:pPr algn="ctr"/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</a:t>
            </a:r>
            <a:r>
              <a:rPr lang="en-IN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Pipeline to process text file</a:t>
            </a:r>
            <a:b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82834F8B-BC31-119C-CD5D-549EFB86D9D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1363133"/>
            <a:ext cx="12192000" cy="5232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609947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57F171-A010-546C-5934-8A42363333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E8F39C-6508-E14C-A15E-141AEDF342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5245" y="378878"/>
            <a:ext cx="8596668" cy="1320800"/>
          </a:xfrm>
        </p:spPr>
        <p:txBody>
          <a:bodyPr>
            <a:normAutofit/>
          </a:bodyPr>
          <a:lstStyle/>
          <a:p>
            <a:pPr algn="ctr"/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</a:t>
            </a:r>
            <a:r>
              <a:rPr lang="en-IN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Pipeline for Metadata processing</a:t>
            </a:r>
            <a:b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D47E10E-12E7-413C-B6C3-6A5BD62E534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1236133"/>
            <a:ext cx="12192000" cy="56218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778246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ED4018-96CD-380B-5BF2-8F759F44AB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25F316-D739-E74F-164B-78AEF3097D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5245" y="378878"/>
            <a:ext cx="8596668" cy="1320800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Data Transformation using Data flow</a:t>
            </a:r>
            <a:b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383FD0E7-E117-E29D-1D20-1523A3EDCA5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1278467"/>
            <a:ext cx="12191999" cy="55795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336268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C7A7E0-BFC1-A438-C4F6-FDBFCAB521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D2B93C-3F63-EDD7-6EF9-C2AB1CFC52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5245" y="378878"/>
            <a:ext cx="8596668" cy="1320800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Data Transformation using Data flow</a:t>
            </a:r>
            <a:b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A7BC473-0FBE-83CF-89C2-A37ACDACCED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1227667"/>
            <a:ext cx="12192000" cy="56303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108799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319D16-46A5-7587-7CAA-3F5978F821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F35C67-78F1-CEF1-63F8-1325985F25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59267" y="378878"/>
            <a:ext cx="10337800" cy="1320800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Data loaded after transformation to the sink</a:t>
            </a:r>
            <a:b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9A533132-188E-3DC0-1D67-3EEC9684D3D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1312333"/>
            <a:ext cx="12192000" cy="55456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776940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51D9DC-EF93-62AB-BACD-9E70DB87EF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FF3EC5-7A92-85DC-0ADB-08E84F88F4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5245" y="378878"/>
            <a:ext cx="8596668" cy="1320800"/>
          </a:xfrm>
        </p:spPr>
        <p:txBody>
          <a:bodyPr>
            <a:normAutofit/>
          </a:bodyPr>
          <a:lstStyle/>
          <a:p>
            <a:pPr algn="ctr"/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Creating new trigger</a:t>
            </a:r>
            <a:b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BBAD458C-8F7E-764E-6983-C52041F9329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1151467"/>
            <a:ext cx="12192000" cy="57065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254079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4ED28C-7F32-9903-D9B5-AE45341D12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112661-9FE1-894B-155D-06A74E2669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5245" y="378878"/>
            <a:ext cx="8596668" cy="1320800"/>
          </a:xfrm>
        </p:spPr>
        <p:txBody>
          <a:bodyPr>
            <a:normAutofit/>
          </a:bodyPr>
          <a:lstStyle/>
          <a:p>
            <a:pPr algn="ctr"/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Pipeline Run using Trigger</a:t>
            </a:r>
            <a:b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A0058CB-3E9B-C334-8F88-E656ABE72A1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1515533"/>
            <a:ext cx="12132733" cy="54017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908428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5F265E-4120-DA27-26E7-CA39EFCCFC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246954-E8EF-C2B1-13BA-82D26369B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5245" y="378878"/>
            <a:ext cx="8596668" cy="1320800"/>
          </a:xfrm>
        </p:spPr>
        <p:txBody>
          <a:bodyPr>
            <a:normAutofit/>
          </a:bodyPr>
          <a:lstStyle/>
          <a:p>
            <a:pPr algn="ctr"/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Pipeline Run using Trigger</a:t>
            </a:r>
            <a:b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E69B10B0-440E-AB5F-823E-1255AD6D4F3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1405467"/>
            <a:ext cx="12192000" cy="54525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434799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40CC8D-59A4-E289-B568-FAC8683AD8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142092B4-461D-7419-E0C8-DEAC925F36C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0" y="0"/>
            <a:ext cx="12191999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6565014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0B5AB586-D108-4FC1-8368-649FE654B89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1478</TotalTime>
  <Words>1120</Words>
  <Application>Microsoft Office PowerPoint</Application>
  <PresentationFormat>Widescreen</PresentationFormat>
  <Paragraphs>147</Paragraphs>
  <Slides>34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34</vt:i4>
      </vt:variant>
    </vt:vector>
  </HeadingPairs>
  <TitlesOfParts>
    <vt:vector size="40" baseType="lpstr">
      <vt:lpstr>Arial</vt:lpstr>
      <vt:lpstr>Times New Roman</vt:lpstr>
      <vt:lpstr>Trebuchet MS</vt:lpstr>
      <vt:lpstr>Wingdings</vt:lpstr>
      <vt:lpstr>Wingdings 3</vt:lpstr>
      <vt:lpstr>Facet</vt:lpstr>
      <vt:lpstr>SMART  RETAIL ANALYTICS FOR FASHION SALES</vt:lpstr>
      <vt:lpstr>TABLE OF CONTENTS</vt:lpstr>
      <vt:lpstr>            Use Case Study</vt:lpstr>
      <vt:lpstr>               Project Focus</vt:lpstr>
      <vt:lpstr>               Project Objectives</vt:lpstr>
      <vt:lpstr>                            Functional Diagram</vt:lpstr>
      <vt:lpstr>              TOOLS AND TECHNOLOGIES</vt:lpstr>
      <vt:lpstr>                 Technical Diagram </vt:lpstr>
      <vt:lpstr>                </vt:lpstr>
      <vt:lpstr>                </vt:lpstr>
      <vt:lpstr>                </vt:lpstr>
      <vt:lpstr>                </vt:lpstr>
      <vt:lpstr>                </vt:lpstr>
      <vt:lpstr>                </vt:lpstr>
      <vt:lpstr>                </vt:lpstr>
      <vt:lpstr>                           Data Modelling</vt:lpstr>
      <vt:lpstr>                         Data Modeling</vt:lpstr>
      <vt:lpstr>                Key Performance Indicators</vt:lpstr>
      <vt:lpstr>                Key Performance Indicators</vt:lpstr>
      <vt:lpstr>                  Key Performance Indicators</vt:lpstr>
      <vt:lpstr>                 Reference Datasets </vt:lpstr>
      <vt:lpstr>                Business Impact &amp; Value Delivered </vt:lpstr>
      <vt:lpstr>                Copy Activity for all file formats </vt:lpstr>
      <vt:lpstr>                Pipeline to process Json file </vt:lpstr>
      <vt:lpstr>                Pipeline to process CSV file </vt:lpstr>
      <vt:lpstr>                Pipeline to process text file </vt:lpstr>
      <vt:lpstr>                Pipeline for Metadata processing </vt:lpstr>
      <vt:lpstr>                Data Transformation using Data flow </vt:lpstr>
      <vt:lpstr>                Data Transformation using Data flow </vt:lpstr>
      <vt:lpstr>                Data loaded after transformation to the sink </vt:lpstr>
      <vt:lpstr>                Creating new trigger </vt:lpstr>
      <vt:lpstr>                Pipeline Run using Trigger </vt:lpstr>
      <vt:lpstr>                Pipeline Run using Trigger 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Hemala Ramesh Babu</dc:creator>
  <cp:lastModifiedBy>Hemala Ramesh Babu</cp:lastModifiedBy>
  <cp:revision>27</cp:revision>
  <cp:lastPrinted>2026-01-26T17:13:51Z</cp:lastPrinted>
  <dcterms:created xsi:type="dcterms:W3CDTF">2026-01-26T14:46:04Z</dcterms:created>
  <dcterms:modified xsi:type="dcterms:W3CDTF">2026-02-23T18:21:19Z</dcterms:modified>
</cp:coreProperties>
</file>